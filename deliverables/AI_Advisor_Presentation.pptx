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Talha. 30 seconds.</a:t>
            </a:r>
          </a:p>
          <a:p>
            <a:r>
              <a:t>"We built an AI advisor for UTA CSE students with LangChain. It plans a degree semester by</a:t>
            </a:r>
          </a:p>
          <a:p>
            <a:r>
              <a:t>semester, checks whether a course can be taken, answers questions from the catalog, and keeps a</a:t>
            </a:r>
          </a:p>
          <a:p>
            <a:r>
              <a:t>full trace of how it reached every answer. Each of us owned one layer, listed here."</a:t>
            </a:r>
          </a:p>
          <a:p>
            <a:r>
              <a:t>TODO before presenting: confirm full names for Miguel and Kyle.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Talha. 20 seconds: the order of the talk, which follows the course template.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Talha. 1 minute.</a:t>
            </a:r>
          </a:p>
          <a:p>
            <a:r>
              <a:t>Walk the table top to bottom. Point out that every requirement maps to a specific component</a:t>
            </a:r>
          </a:p>
          <a:p>
            <a:r>
              <a:t>and a specific demo moment, so the rest of the talk follows this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Jordan (assumptions, data) + Loc (constraints).</a:t>
            </a:r>
          </a:p>
          <a:p>
            <a:r>
              <a:t>Constraints on the right are the ones the six verification checks enforce; the demo shows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Talha (overview), each owner adds one line about their box.</a:t>
            </a:r>
          </a:p>
          <a:p>
            <a:r>
              <a:t>Flow: the student types or clicks in the UI. The UI only talks to the backend through one file,</a:t>
            </a:r>
          </a:p>
          <a:p>
            <a:r>
              <a:t>ui/services.py. Chat goes to the orchestrator, which routes the message by intent to exactly one</a:t>
            </a:r>
          </a:p>
          <a:p>
            <a:r>
              <a:t>handler. Facts come from SQLite; open-ended questions are answered from Chroma documents by the LLM;</a:t>
            </a:r>
          </a:p>
          <a:p>
            <a:r>
              <a:t>plans and the six checks come from a deterministic planner that never calls an LLM.</a:t>
            </a:r>
          </a:p>
          <a:p>
            <a:r>
              <a:t>Every step writes a trace record, which is how we produce the execution log.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Talha. The spec asks for "functions of each component and input/output" on the slides;</a:t>
            </a:r>
          </a:p>
          <a:p>
            <a:r>
              <a:t>this is that slide. Don't read it; point at two rows and move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Kyle (the orchestrator is wired to everyone's interfaces).</a:t>
            </a:r>
          </a:p>
          <a:p>
            <a:r>
              <a:t>These contracts were agreed on day one (README "Integration contracts"), which is why the</a:t>
            </a:r>
          </a:p>
          <a:p>
            <a:r>
              <a:t>pieces merged with few conflicts.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Jordan.</a:t>
            </a:r>
          </a:p>
          <a:p>
            <a:r>
              <a:t>Data comes from the real UTA 2026-27 catalog (degree plans parsed from it); class sections and</a:t>
            </a:r>
          </a:p>
          <a:p>
            <a:r>
              <a:t>students are fabricated but consistent with the prerequisites. Documents used to build the embeddings</a:t>
            </a:r>
          </a:p>
          <a:p>
            <a:r>
              <a:t>are included in the zip under advisor/seed/.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Talha, with Kyle for routing and Loc for the planner.</a:t>
            </a:r>
          </a:p>
          <a:p>
            <a:r>
              <a:t>The assignment asks for the design decisions considered and why we chose ours; this is that slide.</a:t>
            </a:r>
          </a:p>
          <a:p>
            <a:r>
              <a:t>Strongest point: plans and the six checks are deterministic code, so the LLM can't invent a</a:t>
            </a:r>
          </a:p>
          <a:p>
            <a:r>
              <a:t>prerequisite or a section that doesn't exist.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Kyle (router) + Miguel (retrieval).</a:t>
            </a:r>
          </a:p>
          <a:p>
            <a:r>
              <a:t>This is a real turn from our trace log (screenshot later). Emphasise that routing is cheap:</a:t>
            </a:r>
          </a:p>
          <a:p>
            <a:r>
              <a:t>keyword rules catch most phrasing so the LLM is only used where it adds 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Kyle. This is the template's 'how the relationships are implemented in code'.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Jordan. Why it's needed: without structured requirement slots, nothing can</a:t>
            </a:r>
          </a:p>
          <a:p>
            <a:r>
              <a:t>decide whether a course “counts” (check c) or what's left to graduate.</a:t>
            </a:r>
          </a:p>
          <a:p>
            <a:r>
              <a:t>Explain what the segment does (left) and why the system needs it (right).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Kyle.</a:t>
            </a:r>
          </a:p>
          <a:p>
            <a:r>
              <a:t>Explain what the segment does (left) and why the system needs it (right).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Kyle.</a:t>
            </a:r>
          </a:p>
          <a:p>
            <a:r>
              <a:t>Explain what the segment does (left) and why the system needs it (right).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Miguel.</a:t>
            </a:r>
          </a:p>
          <a:p>
            <a:r>
              <a:t>Explain what the segment does (left) and why the system needs it (right).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Loc.</a:t>
            </a:r>
          </a:p>
          <a:p>
            <a:r>
              <a:t>Explain what the segment does (left) and why the system needs it (right).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Talha.</a:t>
            </a:r>
          </a:p>
          <a:p>
            <a:r>
              <a:t>Explain what the segment does (left) and why the system needs it (right).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Input: Pick a student</a:t>
            </a:r>
          </a:p>
          <a:p>
            <a:r>
              <a:t>Output: Credits done, in progress, and per-area requirement rings from SQLite</a:t>
            </a:r>
          </a:p>
          <a:p>
            <a:r>
              <a:t>What it means: Sam has 32 of 123 credits; blue is this fall’s 4 classes. The certificate ring is empty: still to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Input: Plan → Build plan (auto load, no summer) → Years</a:t>
            </a:r>
          </a:p>
          <a:p>
            <a:r>
              <a:t>Output: Completed terms (green), then planned semesters (blue), year by year</a:t>
            </a:r>
          </a:p>
          <a:p>
            <a:r>
              <a:t>What it means: The planner fills semesters in prerequisite order within the 15-credit cap; the rings show what each area still needs.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Input: Check a course: CSE 4344, Spring 2027</a:t>
            </a:r>
          </a:p>
          <a:p>
            <a:r>
              <a:t>Output: Checks (a)–(f), each with pass/fail and the reason</a:t>
            </a:r>
          </a:p>
          <a:p>
            <a:r>
              <a:t>What it means: A course is only recommended if all six pass; the reasons tell the student exactly what to fix.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Input: Plan → Add a course: BIOL 1441, Fall 2026</a:t>
            </a:r>
          </a:p>
          <a:p>
            <a:r>
              <a:t>Output: Five checks pass; (e) fails at 17 of 15 semester credits, so Add stays disabled</a:t>
            </a:r>
          </a:p>
          <a:p>
            <a:r>
              <a:t>What it means: Constraints are enforced, not just reported: the advisor won’t add a course that breaks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Input: “Prerequisites for CSE 3310?” then “Which courses cover machine learning?”</a:t>
            </a:r>
          </a:p>
          <a:p>
            <a:r>
              <a:t>Output: SQL answer in milliseconds; RAG answer grounded in the catalog</a:t>
            </a:r>
          </a:p>
          <a:p>
            <a:r>
              <a:t>What it means: Same chat, two paths: the router sent the first to SQL and the second to Chroma + the LLM.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Input: “Generate my degree plan”, then “What about only 3 classes next semester?”</a:t>
            </a:r>
          </a:p>
          <a:p>
            <a:r>
              <a:t>Output: A new plan with 3 classes in Spring 2027</a:t>
            </a:r>
          </a:p>
          <a:p>
            <a:r>
              <a:t>What it means: The follow-up has no subject of its own; the history passed into the turn makes it resolvable.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Input: Switch major → Software Engineering + AI → Compare plans</a:t>
            </a:r>
          </a:p>
          <a:p>
            <a:r>
              <a:t>Output: Current plan and the new one side by side, plus what changes</a:t>
            </a:r>
          </a:p>
          <a:p>
            <a:r>
              <a:t>What it means: Lets a student see the cost of switching before committing to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Input: More → Show execution traces → Traces</a:t>
            </a:r>
          </a:p>
          <a:p>
            <a:r>
              <a:t>Output: Every turn and action, step by step, with timings</a:t>
            </a:r>
          </a:p>
          <a:p>
            <a:r>
              <a:t>What it means: This is the required log of execution traces; the zip has the same data as JSONL and as a readable report.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Talha. Warm the model 10 minutes before (see deliverables/DEMO_GUIDE.md).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everyone can add one line from their own workstream. Keep it to 2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Talha. Mention that slow answers are local-model speed; OpenAI is a one-line switch.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Talha. Update after the final run: drop anything the team fixed before the deadline.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the app open on the Traces screen for questions about how an answer was produced.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640080" y="1280160"/>
            <a:ext cx="256032" cy="256032"/>
          </a:xfrm>
          <a:prstGeom prst="ellipse">
            <a:avLst/>
          </a:prstGeom>
          <a:solidFill>
            <a:srgbClr val="1E7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Oval 3"/>
          <p:cNvSpPr/>
          <p:nvPr/>
        </p:nvSpPr>
        <p:spPr>
          <a:xfrm>
            <a:off x="640080" y="1627632"/>
            <a:ext cx="256032" cy="256032"/>
          </a:xfrm>
          <a:prstGeom prst="ellipse">
            <a:avLst/>
          </a:prstGeom>
          <a:solidFill>
            <a:srgbClr val="F5F5F7"/>
          </a:solidFill>
          <a:ln w="44450">
            <a:solidFill>
              <a:srgbClr val="0071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143000" y="68580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6E6E73"/>
                </a:solidFill>
                <a:latin typeface="Arial"/>
              </a:rPr>
              <a:t>CSE 4392/5320  ·  Software Engineering with Generative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4300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800" b="1">
                <a:solidFill>
                  <a:srgbClr val="1D1D1F"/>
                </a:solidFill>
                <a:latin typeface="Arial"/>
              </a:rPr>
              <a:t>An AI Advisor Using LangChain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05740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6E6E73"/>
                </a:solidFill>
                <a:latin typeface="Arial"/>
              </a:rPr>
              <a:t>Team Assignment 2  ·  October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01752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D1D1F"/>
                </a:solidFill>
                <a:latin typeface="Arial"/>
              </a:rPr>
              <a:t>Team Members and Their Roles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520440"/>
            <a:ext cx="23774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D1D1F"/>
                </a:solidFill>
                <a:latin typeface="Arial"/>
              </a:rPr>
              <a:t>Jordan Taylor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3520440"/>
            <a:ext cx="78638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6E6E73"/>
                </a:solidFill>
                <a:latin typeface="Arial"/>
              </a:rPr>
              <a:t>Data: SQLite schema, catalog parsing, seed data, degree requirements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977640"/>
            <a:ext cx="23774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D1D1F"/>
                </a:solidFill>
                <a:latin typeface="Arial"/>
              </a:rPr>
              <a:t>Loc Nguyen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3977640"/>
            <a:ext cx="78638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6E6E73"/>
                </a:solidFill>
                <a:latin typeface="Arial"/>
              </a:rPr>
              <a:t>Degree planner, six verification checks, plan comparison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434840"/>
            <a:ext cx="23774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D1D1F"/>
                </a:solidFill>
                <a:latin typeface="Arial"/>
              </a:rPr>
              <a:t>Miguel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4434840"/>
            <a:ext cx="78638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6E6E73"/>
                </a:solidFill>
                <a:latin typeface="Arial"/>
              </a:rPr>
              <a:t>RAG: document ingestion into Chroma, semantic retrieval and answers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892040"/>
            <a:ext cx="23774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D1D1F"/>
                </a:solidFill>
                <a:latin typeface="Arial"/>
              </a:rPr>
              <a:t>Kyle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0" y="4892040"/>
            <a:ext cx="78638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6E6E73"/>
                </a:solidFill>
                <a:latin typeface="Arial"/>
              </a:rPr>
              <a:t>Agent: intent router, orchestrator, exact-query (SQL) chain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5349240"/>
            <a:ext cx="23774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D1D1F"/>
                </a:solidFill>
                <a:latin typeface="Arial"/>
              </a:rPr>
              <a:t>Talha Nadeem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0" y="5349240"/>
            <a:ext cx="78638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6E6E73"/>
                </a:solidFill>
                <a:latin typeface="Arial"/>
              </a:rPr>
              <a:t>Web UI, execution-trace logging, demo, presentation, packaging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79615" y="644652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6E73"/>
                </a:solidFill>
                <a:latin typeface="Arial"/>
              </a:rPr>
              <a:t>Academic AI Advisor  ·  Overview  · 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1D1D1F"/>
                </a:solidFill>
                <a:latin typeface="Arial"/>
              </a:rPr>
              <a:t>Overview of Presentation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645920"/>
            <a:ext cx="502920" cy="502920"/>
          </a:xfrm>
          <a:prstGeom prst="ellipse">
            <a:avLst/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1645920"/>
            <a:ext cx="98755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D1D1F"/>
                </a:solidFill>
                <a:latin typeface="Arial"/>
              </a:rPr>
              <a:t>Functional requirements implemented</a:t>
            </a:r>
            <a:r>
              <a:rPr sz="1800" b="0">
                <a:solidFill>
                  <a:srgbClr val="6E6E73"/>
                </a:solidFill>
                <a:latin typeface="Arial"/>
              </a:rPr>
              <a:t>  what the advisor does, requirement by requirement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2359152"/>
            <a:ext cx="502920" cy="502920"/>
          </a:xfrm>
          <a:prstGeom prst="ellipse">
            <a:avLst/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40080" y="2359152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359152"/>
            <a:ext cx="98755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D1D1F"/>
                </a:solidFill>
                <a:latin typeface="Arial"/>
              </a:rPr>
              <a:t>Assumptions and constraints</a:t>
            </a:r>
            <a:r>
              <a:rPr sz="1800" b="0">
                <a:solidFill>
                  <a:srgbClr val="6E6E73"/>
                </a:solidFill>
                <a:latin typeface="Arial"/>
              </a:rPr>
              <a:t>  what we assumed and the limits the system enforces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3072384"/>
            <a:ext cx="502920" cy="502920"/>
          </a:xfrm>
          <a:prstGeom prst="ellipse">
            <a:avLst/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0080" y="3072384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072384"/>
            <a:ext cx="98755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D1D1F"/>
                </a:solidFill>
                <a:latin typeface="Arial"/>
              </a:rPr>
              <a:t>System architecture</a:t>
            </a:r>
            <a:r>
              <a:rPr sz="1800" b="0">
                <a:solidFill>
                  <a:srgbClr val="6E6E73"/>
                </a:solidFill>
                <a:latin typeface="Arial"/>
              </a:rPr>
              <a:t>  components, how they relate, the two databases, design decisions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3785616"/>
            <a:ext cx="502920" cy="502920"/>
          </a:xfrm>
          <a:prstGeom prst="ellipse">
            <a:avLst/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0080" y="3785616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3785616"/>
            <a:ext cx="98755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D1D1F"/>
                </a:solidFill>
                <a:latin typeface="Arial"/>
              </a:rPr>
              <a:t>Implementation</a:t>
            </a:r>
            <a:r>
              <a:rPr sz="1800" b="0">
                <a:solidFill>
                  <a:srgbClr val="6E6E73"/>
                </a:solidFill>
                <a:latin typeface="Arial"/>
              </a:rPr>
              <a:t>  a request end to end, then the code behind each component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" y="4498848"/>
            <a:ext cx="502920" cy="502920"/>
          </a:xfrm>
          <a:prstGeom prst="ellipse">
            <a:avLst/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0080" y="4498848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4498848"/>
            <a:ext cx="98755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D1D1F"/>
                </a:solidFill>
                <a:latin typeface="Arial"/>
              </a:rPr>
              <a:t>Demo</a:t>
            </a:r>
            <a:r>
              <a:rPr sz="1800" b="0">
                <a:solidFill>
                  <a:srgbClr val="6E6E73"/>
                </a:solidFill>
                <a:latin typeface="Arial"/>
              </a:rPr>
              <a:t>  screenshots for every requirement and constraint, then the live app</a:t>
            </a:r>
          </a:p>
        </p:txBody>
      </p:sp>
      <p:sp>
        <p:nvSpPr>
          <p:cNvPr id="19" name="Oval 18"/>
          <p:cNvSpPr/>
          <p:nvPr/>
        </p:nvSpPr>
        <p:spPr>
          <a:xfrm>
            <a:off x="640080" y="5212080"/>
            <a:ext cx="502920" cy="502920"/>
          </a:xfrm>
          <a:prstGeom prst="ellipse">
            <a:avLst/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40080" y="5212080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5212080"/>
            <a:ext cx="98755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D1D1F"/>
                </a:solidFill>
                <a:latin typeface="Arial"/>
              </a:rPr>
              <a:t>Lessons learned, conclusions, future work</a:t>
            </a:r>
            <a:r>
              <a:rPr sz="1800" b="0">
                <a:solidFill>
                  <a:srgbClr val="6E6E73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79615" y="644652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6E73"/>
                </a:solidFill>
                <a:latin typeface="Arial"/>
              </a:rPr>
              <a:t>Academic AI Advisor  ·  Requirements  · 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1D1D1F"/>
                </a:solidFill>
                <a:latin typeface="Arial"/>
              </a:rPr>
              <a:t>Functional Requirements Implemented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6E6E73"/>
                </a:solidFill>
                <a:latin typeface="Arial"/>
              </a:rPr>
              <a:t>Every requirement in the assignment, how we meet it, and where the demo shows it.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10911535" cy="512064"/>
          </a:xfrm>
          <a:prstGeom prst="roundRect">
            <a:avLst>
              <a:gd name="adj" fmla="val 15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49808" y="1828800"/>
            <a:ext cx="29260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6E6E73"/>
                </a:solidFill>
                <a:latin typeface="Arial"/>
              </a:rPr>
              <a:t>Requirement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58768" y="1828800"/>
            <a:ext cx="56692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6E6E73"/>
                </a:solidFill>
                <a:latin typeface="Arial"/>
              </a:rPr>
              <a:t>How we meet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0928" y="1828800"/>
            <a:ext cx="176479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6E6E73"/>
                </a:solidFill>
                <a:latin typeface="Arial"/>
              </a:rPr>
              <a:t>Shown in demo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340864"/>
            <a:ext cx="29260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D1D1F"/>
                </a:solidFill>
                <a:latin typeface="Arial"/>
              </a:rPr>
              <a:t>1  User interface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58768" y="2340864"/>
            <a:ext cx="56692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D1D1F"/>
                </a:solidFill>
                <a:latin typeface="Arial"/>
              </a:rPr>
              <a:t>Streamlit web app: chat, plan timeline, dialogs for add / drop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10928" y="2340864"/>
            <a:ext cx="176479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D1D1F"/>
                </a:solidFill>
                <a:latin typeface="Arial"/>
              </a:rPr>
              <a:t>Every screen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40080" y="2852928"/>
            <a:ext cx="10911535" cy="0"/>
          </a:xfrm>
          <a:prstGeom prst="line">
            <a:avLst/>
          </a:prstGeom>
          <a:ln w="9525">
            <a:solidFill>
              <a:srgbClr val="D2D2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49808" y="2852928"/>
            <a:ext cx="29260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D1D1F"/>
                </a:solidFill>
                <a:latin typeface="Arial"/>
              </a:rPr>
              <a:t>2  Multi-year degree plan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58768" y="2852928"/>
            <a:ext cx="56692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D1D1F"/>
                </a:solidFill>
                <a:latin typeface="Arial"/>
              </a:rPr>
              <a:t>Deterministic planner orders the prerequisite graph into semesters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10928" y="2852928"/>
            <a:ext cx="176479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D1D1F"/>
                </a:solidFill>
                <a:latin typeface="Arial"/>
              </a:rPr>
              <a:t>Plan → Build plan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0080" y="3364992"/>
            <a:ext cx="10911535" cy="0"/>
          </a:xfrm>
          <a:prstGeom prst="line">
            <a:avLst/>
          </a:prstGeom>
          <a:ln w="9525">
            <a:solidFill>
              <a:srgbClr val="D2D2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49808" y="3364992"/>
            <a:ext cx="29260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D1D1F"/>
                </a:solidFill>
                <a:latin typeface="Arial"/>
              </a:rPr>
              <a:t>3  Exact and semantic queries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58768" y="3364992"/>
            <a:ext cx="56692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D1D1F"/>
                </a:solidFill>
                <a:latin typeface="Arial"/>
              </a:rPr>
              <a:t>Intent router sends facts to SQL, open questions to RAG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10928" y="3364992"/>
            <a:ext cx="176479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D1D1F"/>
                </a:solidFill>
                <a:latin typeface="Arial"/>
              </a:rPr>
              <a:t>Ask: prereqs, ML courses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0080" y="3877056"/>
            <a:ext cx="10911535" cy="0"/>
          </a:xfrm>
          <a:prstGeom prst="line">
            <a:avLst/>
          </a:prstGeom>
          <a:ln w="9525">
            <a:solidFill>
              <a:srgbClr val="D2D2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49808" y="3877056"/>
            <a:ext cx="29260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D1D1F"/>
                </a:solidFill>
                <a:latin typeface="Arial"/>
              </a:rPr>
              <a:t>4  Six checks before recommending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58768" y="3877056"/>
            <a:ext cx="56692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D1D1F"/>
                </a:solidFill>
                <a:latin typeface="Arial"/>
              </a:rPr>
              <a:t>Verification engine returns checks (a)–(f) with reasons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10928" y="3877056"/>
            <a:ext cx="176479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D1D1F"/>
                </a:solidFill>
                <a:latin typeface="Arial"/>
              </a:rPr>
              <a:t>Check a course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40080" y="4389120"/>
            <a:ext cx="10911535" cy="0"/>
          </a:xfrm>
          <a:prstGeom prst="line">
            <a:avLst/>
          </a:prstGeom>
          <a:ln w="9525">
            <a:solidFill>
              <a:srgbClr val="D2D2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749808" y="4389120"/>
            <a:ext cx="29260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D1D1F"/>
                </a:solidFill>
                <a:latin typeface="Arial"/>
              </a:rPr>
              <a:t>5  Change plan, switch major, compare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58768" y="4389120"/>
            <a:ext cx="56692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D1D1F"/>
                </a:solidFill>
                <a:latin typeface="Arial"/>
              </a:rPr>
              <a:t>Add / drop with undo; new plan side by side with a diff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10928" y="4389120"/>
            <a:ext cx="176479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D1D1F"/>
                </a:solidFill>
                <a:latin typeface="Arial"/>
              </a:rPr>
              <a:t>Plan, Switch major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40080" y="4901184"/>
            <a:ext cx="10911535" cy="0"/>
          </a:xfrm>
          <a:prstGeom prst="line">
            <a:avLst/>
          </a:prstGeom>
          <a:ln w="9525">
            <a:solidFill>
              <a:srgbClr val="D2D2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749808" y="4901184"/>
            <a:ext cx="29260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D1D1F"/>
                </a:solidFill>
                <a:latin typeface="Arial"/>
              </a:rPr>
              <a:t>6  Conversation state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58768" y="4901184"/>
            <a:ext cx="56692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D1D1F"/>
                </a:solidFill>
                <a:latin typeface="Arial"/>
              </a:rPr>
              <a:t>Session history passed into every turn; chat history in SQLite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10928" y="4901184"/>
            <a:ext cx="176479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D1D1F"/>
                </a:solidFill>
                <a:latin typeface="Arial"/>
              </a:rPr>
              <a:t>Follow-up question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40080" y="5413248"/>
            <a:ext cx="10911535" cy="0"/>
          </a:xfrm>
          <a:prstGeom prst="line">
            <a:avLst/>
          </a:prstGeom>
          <a:ln w="9525">
            <a:solidFill>
              <a:srgbClr val="D2D2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749808" y="5413248"/>
            <a:ext cx="29260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D1D1F"/>
                </a:solidFill>
                <a:latin typeface="Arial"/>
              </a:rPr>
              <a:t>7–8  Structural + unstructured data, two DBMSs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58768" y="5413248"/>
            <a:ext cx="56692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D1D1F"/>
                </a:solidFill>
                <a:latin typeface="Arial"/>
              </a:rPr>
              <a:t>SQLite for records, Chroma for catalog text and degree docs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10928" y="5413248"/>
            <a:ext cx="176479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D1D1F"/>
                </a:solidFill>
                <a:latin typeface="Arial"/>
              </a:rPr>
              <a:t>Architecture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640080" y="5925312"/>
            <a:ext cx="10911535" cy="0"/>
          </a:xfrm>
          <a:prstGeom prst="line">
            <a:avLst/>
          </a:prstGeom>
          <a:ln w="9525">
            <a:solidFill>
              <a:srgbClr val="D2D2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79615" y="644652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6E73"/>
                </a:solidFill>
                <a:latin typeface="Arial"/>
              </a:rPr>
              <a:t>Academic AI Advisor  ·  Assumptions and constraints  · 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1D1D1F"/>
                </a:solidFill>
                <a:latin typeface="Arial"/>
              </a:rPr>
              <a:t>Assumptions and Constraints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508760"/>
            <a:ext cx="5227167" cy="4663440"/>
          </a:xfrm>
          <a:prstGeom prst="roundRect">
            <a:avLst>
              <a:gd name="adj" fmla="val 5000"/>
            </a:avLst>
          </a:prstGeom>
          <a:solidFill>
            <a:srgbClr val="E8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60120" y="1691640"/>
            <a:ext cx="458708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71E3"/>
                </a:solidFill>
                <a:latin typeface="Arial"/>
              </a:rPr>
              <a:t>Assumptions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286000"/>
            <a:ext cx="4587087" cy="3749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48"/>
              </a:spcAft>
            </a:pPr>
            <a:r>
              <a:rPr sz="1400" b="1">
                <a:solidFill>
                  <a:srgbClr val="1D1D1F"/>
                </a:solidFill>
                <a:latin typeface="Arial"/>
              </a:rPr>
              <a:t>Signed in:</a:t>
            </a:r>
            <a:r>
              <a:rPr sz="1400" b="0">
                <a:solidFill>
                  <a:srgbClr val="1D1D1F"/>
                </a:solidFill>
                <a:latin typeface="Arial"/>
              </a:rPr>
              <a:t> the student is already logged in (given by the assignment)</a:t>
            </a:r>
          </a:p>
          <a:p>
            <a:pPr algn="l">
              <a:lnSpc>
                <a:spcPct val="120000"/>
              </a:lnSpc>
              <a:spcAft>
                <a:spcPts val="448"/>
              </a:spcAft>
            </a:pPr>
            <a:r>
              <a:rPr sz="1400" b="1">
                <a:solidFill>
                  <a:srgbClr val="1D1D1F"/>
                </a:solidFill>
                <a:latin typeface="Arial"/>
              </a:rPr>
              <a:t>Catalog:</a:t>
            </a:r>
            <a:r>
              <a:rPr sz="1400" b="0">
                <a:solidFill>
                  <a:srgbClr val="1D1D1F"/>
                </a:solidFill>
                <a:latin typeface="Arial"/>
              </a:rPr>
              <a:t> requirements and courses come from the real UTA 2026–27 catalog</a:t>
            </a:r>
          </a:p>
          <a:p>
            <a:pPr algn="l">
              <a:lnSpc>
                <a:spcPct val="120000"/>
              </a:lnSpc>
              <a:spcAft>
                <a:spcPts val="448"/>
              </a:spcAft>
            </a:pPr>
            <a:r>
              <a:rPr sz="1400" b="1">
                <a:solidFill>
                  <a:srgbClr val="1D1D1F"/>
                </a:solidFill>
                <a:latin typeface="Arial"/>
              </a:rPr>
              <a:t>Students and sections:</a:t>
            </a:r>
            <a:r>
              <a:rPr sz="1400" b="0">
                <a:solidFill>
                  <a:srgbClr val="1D1D1F"/>
                </a:solidFill>
                <a:latin typeface="Arial"/>
              </a:rPr>
              <a:t> four personas and class sections are fabricated, consistent with prerequisites</a:t>
            </a:r>
          </a:p>
          <a:p>
            <a:pPr algn="l">
              <a:lnSpc>
                <a:spcPct val="120000"/>
              </a:lnSpc>
              <a:spcAft>
                <a:spcPts val="448"/>
              </a:spcAft>
            </a:pPr>
            <a:r>
              <a:rPr sz="1400" b="1">
                <a:solidFill>
                  <a:srgbClr val="1D1D1F"/>
                </a:solidFill>
                <a:latin typeface="Arial"/>
              </a:rPr>
              <a:t>Programs:</a:t>
            </a:r>
            <a:r>
              <a:rPr sz="1400" b="0">
                <a:solidFill>
                  <a:srgbClr val="1D1D1F"/>
                </a:solidFill>
                <a:latin typeface="Arial"/>
              </a:rPr>
              <a:t> BS CS + Cybersecurity certificate (123 credits) and BS SE + AI certificate (127)</a:t>
            </a:r>
          </a:p>
          <a:p>
            <a:pPr algn="l">
              <a:lnSpc>
                <a:spcPct val="120000"/>
              </a:lnSpc>
              <a:spcAft>
                <a:spcPts val="448"/>
              </a:spcAft>
            </a:pPr>
            <a:r>
              <a:rPr sz="1400" b="1">
                <a:solidFill>
                  <a:srgbClr val="1D1D1F"/>
                </a:solidFill>
                <a:latin typeface="Arial"/>
              </a:rPr>
              <a:t>Current term:</a:t>
            </a:r>
            <a:r>
              <a:rPr sz="1400" b="0">
                <a:solidFill>
                  <a:srgbClr val="1D1D1F"/>
                </a:solidFill>
                <a:latin typeface="Arial"/>
              </a:rPr>
              <a:t> Fall 2026; planning starts after it</a:t>
            </a:r>
          </a:p>
          <a:p>
            <a:pPr algn="l">
              <a:lnSpc>
                <a:spcPct val="120000"/>
              </a:lnSpc>
              <a:spcAft>
                <a:spcPts val="448"/>
              </a:spcAft>
            </a:pPr>
            <a:r>
              <a:rPr sz="1400" b="1">
                <a:solidFill>
                  <a:srgbClr val="1D1D1F"/>
                </a:solidFill>
                <a:latin typeface="Arial"/>
              </a:rPr>
              <a:t>Certificates:</a:t>
            </a:r>
            <a:r>
              <a:rPr sz="1400" b="0">
                <a:solidFill>
                  <a:srgbClr val="1D1D1F"/>
                </a:solidFill>
                <a:latin typeface="Arial"/>
              </a:rPr>
              <a:t> certificate courses also count toward the degree (not yet confirmed by UTA)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24447" y="1508760"/>
            <a:ext cx="5227167" cy="4663440"/>
          </a:xfrm>
          <a:prstGeom prst="roundRect">
            <a:avLst>
              <a:gd name="adj" fmla="val 5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644487" y="1691640"/>
            <a:ext cx="458708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E7B34"/>
                </a:solidFill>
                <a:latin typeface="Arial"/>
              </a:rPr>
              <a:t>Constraints the system enforces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44487" y="2286000"/>
            <a:ext cx="4587087" cy="3749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48"/>
              </a:spcAft>
            </a:pPr>
            <a:r>
              <a:rPr sz="1400" b="1">
                <a:solidFill>
                  <a:srgbClr val="1D1D1F"/>
                </a:solidFill>
                <a:latin typeface="Arial"/>
              </a:rPr>
              <a:t>Prerequisites:</a:t>
            </a:r>
            <a:r>
              <a:rPr sz="1400" b="0">
                <a:solidFill>
                  <a:srgbClr val="1D1D1F"/>
                </a:solidFill>
                <a:latin typeface="Arial"/>
              </a:rPr>
              <a:t> every prerequisite passed (minimum grade C), or taken the same term when allowed</a:t>
            </a:r>
          </a:p>
          <a:p>
            <a:pPr algn="l">
              <a:lnSpc>
                <a:spcPct val="120000"/>
              </a:lnSpc>
              <a:spcAft>
                <a:spcPts val="448"/>
              </a:spcAft>
            </a:pPr>
            <a:r>
              <a:rPr sz="1400" b="1">
                <a:solidFill>
                  <a:srgbClr val="1D1D1F"/>
                </a:solidFill>
                <a:latin typeface="Arial"/>
              </a:rPr>
              <a:t>Credit caps:</a:t>
            </a:r>
            <a:r>
              <a:rPr sz="1400" b="0">
                <a:solidFill>
                  <a:srgbClr val="1D1D1F"/>
                </a:solidFill>
                <a:latin typeface="Arial"/>
              </a:rPr>
              <a:t> each student’s semester limit (15 or 18) and the degree total</a:t>
            </a:r>
          </a:p>
          <a:p>
            <a:pPr algn="l">
              <a:lnSpc>
                <a:spcPct val="120000"/>
              </a:lnSpc>
              <a:spcAft>
                <a:spcPts val="448"/>
              </a:spcAft>
            </a:pPr>
            <a:r>
              <a:rPr sz="1400" b="1">
                <a:solidFill>
                  <a:srgbClr val="1D1D1F"/>
                </a:solidFill>
                <a:latin typeface="Arial"/>
              </a:rPr>
              <a:t>Schedule:</a:t>
            </a:r>
            <a:r>
              <a:rPr sz="1400" b="0">
                <a:solidFill>
                  <a:srgbClr val="1D1D1F"/>
                </a:solidFill>
                <a:latin typeface="Arial"/>
              </a:rPr>
              <a:t> a conflict-free set of real sections must exist for the term</a:t>
            </a:r>
          </a:p>
          <a:p>
            <a:pPr algn="l">
              <a:lnSpc>
                <a:spcPct val="120000"/>
              </a:lnSpc>
              <a:spcAft>
                <a:spcPts val="448"/>
              </a:spcAft>
            </a:pPr>
            <a:r>
              <a:rPr sz="1400" b="1">
                <a:solidFill>
                  <a:srgbClr val="1D1D1F"/>
                </a:solidFill>
                <a:latin typeface="Arial"/>
              </a:rPr>
              <a:t>No repeats:</a:t>
            </a:r>
            <a:r>
              <a:rPr sz="1400" b="0">
                <a:solidFill>
                  <a:srgbClr val="1D1D1F"/>
                </a:solidFill>
                <a:latin typeface="Arial"/>
              </a:rPr>
              <a:t> a passed or already-planned course can’t be added again</a:t>
            </a:r>
          </a:p>
          <a:p>
            <a:pPr algn="l">
              <a:lnSpc>
                <a:spcPct val="120000"/>
              </a:lnSpc>
              <a:spcAft>
                <a:spcPts val="448"/>
              </a:spcAft>
            </a:pPr>
            <a:r>
              <a:rPr sz="1400" b="1">
                <a:solidFill>
                  <a:srgbClr val="1D1D1F"/>
                </a:solidFill>
                <a:latin typeface="Arial"/>
              </a:rPr>
              <a:t>Local only:</a:t>
            </a:r>
            <a:r>
              <a:rPr sz="1400" b="0">
                <a:solidFill>
                  <a:srgbClr val="1D1D1F"/>
                </a:solidFill>
                <a:latin typeface="Arial"/>
              </a:rPr>
              <a:t> runs offline on a laptop: Ollama, SQLite, Chroma; no accounts or API keys</a:t>
            </a:r>
          </a:p>
          <a:p>
            <a:pPr algn="l">
              <a:lnSpc>
                <a:spcPct val="120000"/>
              </a:lnSpc>
              <a:spcAft>
                <a:spcPts val="448"/>
              </a:spcAft>
            </a:pPr>
            <a:r>
              <a:rPr sz="1400" b="1">
                <a:solidFill>
                  <a:srgbClr val="1D1D1F"/>
                </a:solidFill>
                <a:latin typeface="Arial"/>
              </a:rPr>
              <a:t>Horizon:</a:t>
            </a:r>
            <a:r>
              <a:rPr sz="1400" b="0">
                <a:solidFill>
                  <a:srgbClr val="1D1D1F"/>
                </a:solidFill>
                <a:latin typeface="Arial"/>
              </a:rPr>
              <a:t> sections are published for three terms (Fall 2026 – Summer 2027)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79615" y="644652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6E73"/>
                </a:solidFill>
                <a:latin typeface="Arial"/>
              </a:rPr>
              <a:t>Academic AI Advisor  ·  Architecture  · 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1D1D1F"/>
                </a:solidFill>
                <a:latin typeface="Arial"/>
              </a:rPr>
              <a:t>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6E6E73"/>
                </a:solidFill>
                <a:latin typeface="Arial"/>
              </a:rPr>
              <a:t>One entry point, one router, specialised handlers, two databases, and a trace of every step.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201168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2D2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49808" y="1828800"/>
            <a:ext cx="1792224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>
                <a:solidFill>
                  <a:srgbClr val="1D1D1F"/>
                </a:solidFill>
                <a:latin typeface="Arial"/>
              </a:rPr>
              <a:t>Student</a:t>
            </a:r>
          </a:p>
          <a:p>
            <a:pPr algn="ctr">
              <a:lnSpc>
                <a:spcPct val="105000"/>
              </a:lnSpc>
            </a:pPr>
            <a:r>
              <a:rPr sz="1100" b="0">
                <a:solidFill>
                  <a:srgbClr val="6E6E73"/>
                </a:solidFill>
                <a:latin typeface="Arial"/>
              </a:rPr>
              <a:t>signed in (given)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83280" y="1828800"/>
            <a:ext cx="2926080" cy="731520"/>
          </a:xfrm>
          <a:prstGeom prst="roundRect">
            <a:avLst>
              <a:gd name="adj" fmla="val 12000"/>
            </a:avLst>
          </a:prstGeom>
          <a:solidFill>
            <a:srgbClr val="E8F1FC"/>
          </a:solidFill>
          <a:ln w="12700">
            <a:solidFill>
              <a:srgbClr val="0071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493008" y="1828800"/>
            <a:ext cx="2706624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>
                <a:solidFill>
                  <a:srgbClr val="1D1D1F"/>
                </a:solidFill>
                <a:latin typeface="Arial"/>
              </a:rPr>
              <a:t>Streamlit UI</a:t>
            </a:r>
          </a:p>
          <a:p>
            <a:pPr algn="ctr">
              <a:lnSpc>
                <a:spcPct val="105000"/>
              </a:lnSpc>
            </a:pPr>
            <a:r>
              <a:rPr sz="1100" b="0">
                <a:solidFill>
                  <a:srgbClr val="6E6E73"/>
                </a:solidFill>
                <a:latin typeface="Arial"/>
              </a:rPr>
              <a:t>app.py, ui/  ·  Talha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0" y="1828800"/>
            <a:ext cx="4480560" cy="731520"/>
          </a:xfrm>
          <a:prstGeom prst="roundRect">
            <a:avLst>
              <a:gd name="adj" fmla="val 12000"/>
            </a:avLst>
          </a:prstGeom>
          <a:solidFill>
            <a:srgbClr val="E8F1FC"/>
          </a:solidFill>
          <a:ln w="12700">
            <a:solidFill>
              <a:srgbClr val="0071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150608" y="1828800"/>
            <a:ext cx="4261104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>
                <a:solidFill>
                  <a:srgbClr val="1D1D1F"/>
                </a:solidFill>
                <a:latin typeface="Arial"/>
              </a:rPr>
              <a:t>Orchestrator</a:t>
            </a:r>
          </a:p>
          <a:p>
            <a:pPr algn="ctr">
              <a:lnSpc>
                <a:spcPct val="105000"/>
              </a:lnSpc>
            </a:pPr>
            <a:r>
              <a:rPr sz="1100" b="0">
                <a:solidFill>
                  <a:srgbClr val="6E6E73"/>
                </a:solidFill>
                <a:latin typeface="Arial"/>
              </a:rPr>
              <a:t>memory + intent router (keywords → small LLM)  ·  Kyle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651760" y="2194560"/>
            <a:ext cx="731520" cy="0"/>
          </a:xfrm>
          <a:prstGeom prst="line">
            <a:avLst/>
          </a:prstGeom>
          <a:ln w="19050">
            <a:solidFill>
              <a:srgbClr val="6E6E7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309360" y="2194560"/>
            <a:ext cx="731520" cy="0"/>
          </a:xfrm>
          <a:prstGeom prst="line">
            <a:avLst/>
          </a:prstGeom>
          <a:ln w="19050">
            <a:solidFill>
              <a:srgbClr val="6E6E7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9281160" y="2560320"/>
            <a:ext cx="0" cy="365760"/>
          </a:xfrm>
          <a:prstGeom prst="line">
            <a:avLst/>
          </a:prstGeom>
          <a:ln w="19050">
            <a:solidFill>
              <a:srgbClr val="6E6E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655064" y="2926080"/>
            <a:ext cx="8851392" cy="0"/>
          </a:xfrm>
          <a:prstGeom prst="line">
            <a:avLst/>
          </a:prstGeom>
          <a:ln w="19050">
            <a:solidFill>
              <a:srgbClr val="6E6E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40080" y="3246120"/>
            <a:ext cx="2029968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2D2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49808" y="3246120"/>
            <a:ext cx="1810512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>
                <a:solidFill>
                  <a:srgbClr val="1D1D1F"/>
                </a:solidFill>
                <a:latin typeface="Arial"/>
              </a:rPr>
              <a:t>Exact query chain</a:t>
            </a:r>
          </a:p>
          <a:p>
            <a:pPr algn="ctr">
              <a:lnSpc>
                <a:spcPct val="105000"/>
              </a:lnSpc>
            </a:pPr>
            <a:r>
              <a:rPr sz="1000" b="0">
                <a:solidFill>
                  <a:srgbClr val="6E6E73"/>
                </a:solidFill>
                <a:latin typeface="Arial"/>
              </a:rPr>
              <a:t>SQL lookups  ·  Kyle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655064" y="2926080"/>
            <a:ext cx="0" cy="320040"/>
          </a:xfrm>
          <a:prstGeom prst="line">
            <a:avLst/>
          </a:prstGeom>
          <a:ln w="19050">
            <a:solidFill>
              <a:srgbClr val="6E6E7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655064" y="4023360"/>
            <a:ext cx="0" cy="685800"/>
          </a:xfrm>
          <a:prstGeom prst="line">
            <a:avLst/>
          </a:prstGeom>
          <a:ln w="19050">
            <a:solidFill>
              <a:srgbClr val="6E6E7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2852928" y="3246120"/>
            <a:ext cx="2029968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2D2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2962656" y="3246120"/>
            <a:ext cx="1810512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>
                <a:solidFill>
                  <a:srgbClr val="1D1D1F"/>
                </a:solidFill>
                <a:latin typeface="Arial"/>
              </a:rPr>
              <a:t>Degree planner</a:t>
            </a:r>
          </a:p>
          <a:p>
            <a:pPr algn="ctr">
              <a:lnSpc>
                <a:spcPct val="105000"/>
              </a:lnSpc>
            </a:pPr>
            <a:r>
              <a:rPr sz="1000" b="0">
                <a:solidFill>
                  <a:srgbClr val="6E6E73"/>
                </a:solidFill>
                <a:latin typeface="Arial"/>
              </a:rPr>
              <a:t>plan + six checks  ·  Loc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867912" y="2926080"/>
            <a:ext cx="0" cy="320040"/>
          </a:xfrm>
          <a:prstGeom prst="line">
            <a:avLst/>
          </a:prstGeom>
          <a:ln w="19050">
            <a:solidFill>
              <a:srgbClr val="6E6E7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3867912" y="4023360"/>
            <a:ext cx="0" cy="685800"/>
          </a:xfrm>
          <a:prstGeom prst="line">
            <a:avLst/>
          </a:prstGeom>
          <a:ln w="19050">
            <a:solidFill>
              <a:srgbClr val="6E6E7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5065776" y="3246120"/>
            <a:ext cx="2029968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2D2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175504" y="3246120"/>
            <a:ext cx="1810512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>
                <a:solidFill>
                  <a:srgbClr val="1D1D1F"/>
                </a:solidFill>
                <a:latin typeface="Arial"/>
              </a:rPr>
              <a:t>Plan compare</a:t>
            </a:r>
          </a:p>
          <a:p>
            <a:pPr algn="ctr">
              <a:lnSpc>
                <a:spcPct val="105000"/>
              </a:lnSpc>
            </a:pPr>
            <a:r>
              <a:rPr sz="1000" b="0">
                <a:solidFill>
                  <a:srgbClr val="6E6E73"/>
                </a:solidFill>
                <a:latin typeface="Arial"/>
              </a:rPr>
              <a:t>diff of two plans  ·  Loc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080760" y="2926080"/>
            <a:ext cx="0" cy="320040"/>
          </a:xfrm>
          <a:prstGeom prst="line">
            <a:avLst/>
          </a:prstGeom>
          <a:ln w="19050">
            <a:solidFill>
              <a:srgbClr val="6E6E7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080760" y="4023360"/>
            <a:ext cx="0" cy="685800"/>
          </a:xfrm>
          <a:prstGeom prst="line">
            <a:avLst/>
          </a:prstGeom>
          <a:ln w="19050">
            <a:solidFill>
              <a:srgbClr val="6E6E7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278624" y="3246120"/>
            <a:ext cx="2029968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2D2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7388352" y="3246120"/>
            <a:ext cx="1810512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>
                <a:solidFill>
                  <a:srgbClr val="1D1D1F"/>
                </a:solidFill>
                <a:latin typeface="Arial"/>
              </a:rPr>
              <a:t>RAG chain</a:t>
            </a:r>
          </a:p>
          <a:p>
            <a:pPr algn="ctr">
              <a:lnSpc>
                <a:spcPct val="105000"/>
              </a:lnSpc>
            </a:pPr>
            <a:r>
              <a:rPr sz="1000" b="0">
                <a:solidFill>
                  <a:srgbClr val="6E6E73"/>
                </a:solidFill>
                <a:latin typeface="Arial"/>
              </a:rPr>
              <a:t>Chroma + LLM  ·  Miguel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293608" y="2926080"/>
            <a:ext cx="0" cy="320040"/>
          </a:xfrm>
          <a:prstGeom prst="line">
            <a:avLst/>
          </a:prstGeom>
          <a:ln w="19050">
            <a:solidFill>
              <a:srgbClr val="6E6E7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8293608" y="4023360"/>
            <a:ext cx="0" cy="685800"/>
          </a:xfrm>
          <a:prstGeom prst="line">
            <a:avLst/>
          </a:prstGeom>
          <a:ln w="19050">
            <a:solidFill>
              <a:srgbClr val="6E6E7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9491472" y="3246120"/>
            <a:ext cx="2029968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2D2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9601200" y="3246120"/>
            <a:ext cx="1810512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>
                <a:solidFill>
                  <a:srgbClr val="1D1D1F"/>
                </a:solidFill>
                <a:latin typeface="Arial"/>
              </a:rPr>
              <a:t>General chat</a:t>
            </a:r>
          </a:p>
          <a:p>
            <a:pPr algn="ctr">
              <a:lnSpc>
                <a:spcPct val="105000"/>
              </a:lnSpc>
            </a:pPr>
            <a:r>
              <a:rPr sz="1000" b="0">
                <a:solidFill>
                  <a:srgbClr val="6E6E73"/>
                </a:solidFill>
                <a:latin typeface="Arial"/>
              </a:rPr>
              <a:t>LLM fallback  ·  Kyle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10506456" y="2926080"/>
            <a:ext cx="0" cy="320040"/>
          </a:xfrm>
          <a:prstGeom prst="line">
            <a:avLst/>
          </a:prstGeom>
          <a:ln w="19050">
            <a:solidFill>
              <a:srgbClr val="6E6E7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10506456" y="4023360"/>
            <a:ext cx="0" cy="685800"/>
          </a:xfrm>
          <a:prstGeom prst="line">
            <a:avLst/>
          </a:prstGeom>
          <a:ln w="19050">
            <a:solidFill>
              <a:srgbClr val="6E6E7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640080" y="4709160"/>
            <a:ext cx="6455664" cy="914400"/>
          </a:xfrm>
          <a:prstGeom prst="roundRect">
            <a:avLst>
              <a:gd name="adj" fmla="val 12000"/>
            </a:avLst>
          </a:prstGeom>
          <a:solidFill>
            <a:srgbClr val="E8F5EC"/>
          </a:solidFill>
          <a:ln w="12700">
            <a:solidFill>
              <a:srgbClr val="1E7B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749808" y="4709160"/>
            <a:ext cx="6236208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>
                <a:solidFill>
                  <a:srgbClr val="1D1D1F"/>
                </a:solidFill>
                <a:latin typeface="Arial"/>
              </a:rPr>
              <a:t>SQLite</a:t>
            </a:r>
          </a:p>
          <a:p>
            <a:pPr algn="ctr">
              <a:lnSpc>
                <a:spcPct val="105000"/>
              </a:lnSpc>
            </a:pPr>
            <a:r>
              <a:rPr sz="1000" b="0">
                <a:solidFill>
                  <a:srgbClr val="6E6E73"/>
                </a:solidFill>
                <a:latin typeface="Arial"/>
              </a:rPr>
              <a:t>courses, prerequisites, sections, students, records, requirement slots, plans, chat history  ·  Jordan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278624" y="4709160"/>
            <a:ext cx="2029968" cy="914400"/>
          </a:xfrm>
          <a:prstGeom prst="roundRect">
            <a:avLst>
              <a:gd name="adj" fmla="val 12000"/>
            </a:avLst>
          </a:prstGeom>
          <a:solidFill>
            <a:srgbClr val="E8F5EC"/>
          </a:solidFill>
          <a:ln w="12700">
            <a:solidFill>
              <a:srgbClr val="1E7B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7388352" y="4709160"/>
            <a:ext cx="1810512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>
                <a:solidFill>
                  <a:srgbClr val="1D1D1F"/>
                </a:solidFill>
                <a:latin typeface="Arial"/>
              </a:rPr>
              <a:t>Chroma</a:t>
            </a:r>
          </a:p>
          <a:p>
            <a:pPr algn="ctr">
              <a:lnSpc>
                <a:spcPct val="105000"/>
              </a:lnSpc>
            </a:pPr>
            <a:r>
              <a:rPr sz="1000" b="0">
                <a:solidFill>
                  <a:srgbClr val="6E6E73"/>
                </a:solidFill>
                <a:latin typeface="Arial"/>
              </a:rPr>
              <a:t>155 docs: catalog, descriptions, degree reqs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491472" y="4709160"/>
            <a:ext cx="2029968" cy="914400"/>
          </a:xfrm>
          <a:prstGeom prst="roundRect">
            <a:avLst>
              <a:gd name="adj" fmla="val 12000"/>
            </a:avLst>
          </a:prstGeom>
          <a:solidFill>
            <a:srgbClr val="FDF0E4"/>
          </a:solidFill>
          <a:ln w="12700">
            <a:solidFill>
              <a:srgbClr val="B25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9601200" y="4709160"/>
            <a:ext cx="1810512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>
                <a:solidFill>
                  <a:srgbClr val="1D1D1F"/>
                </a:solidFill>
                <a:latin typeface="Arial"/>
              </a:rPr>
              <a:t>Ollama (local)</a:t>
            </a:r>
          </a:p>
          <a:p>
            <a:pPr algn="ctr">
              <a:lnSpc>
                <a:spcPct val="105000"/>
              </a:lnSpc>
            </a:pPr>
            <a:r>
              <a:rPr sz="1000" b="0">
                <a:solidFill>
                  <a:srgbClr val="6E6E73"/>
                </a:solidFill>
                <a:latin typeface="Arial"/>
              </a:rPr>
              <a:t>qwen3:4b · qwen3:0.6b · nomic-embed-text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" y="585216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E6E73"/>
                </a:solidFill>
                <a:latin typeface="Arial"/>
              </a:rPr>
              <a:t>Every step </a:t>
            </a:r>
            <a:r>
              <a:rPr sz="1300" b="1">
                <a:solidFill>
                  <a:srgbClr val="6E6E73"/>
                </a:solidFill>
                <a:latin typeface="Arial"/>
              </a:rPr>
              <a:t>→ logs/traces.jsonl</a:t>
            </a:r>
            <a:r>
              <a:rPr sz="1300" b="0">
                <a:solidFill>
                  <a:srgbClr val="6E6E73"/>
                </a:solidFill>
                <a:latin typeface="Arial"/>
              </a:rPr>
              <a:t> → Traces screen in the app and the rendered execution log in the zip.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79615" y="644652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6E73"/>
                </a:solidFill>
                <a:latin typeface="Arial"/>
              </a:rPr>
              <a:t>Academic AI Advisor  ·  Architecture  · 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1D1D1F"/>
                </a:solidFill>
                <a:latin typeface="Arial"/>
              </a:rPr>
              <a:t>System Components and Relationships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6E6E73"/>
                </a:solidFill>
                <a:latin typeface="Arial"/>
              </a:rPr>
              <a:t>What each component does, with its input and output.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83080"/>
            <a:ext cx="10911535" cy="429768"/>
          </a:xfrm>
          <a:prstGeom prst="roundRect">
            <a:avLst>
              <a:gd name="adj" fmla="val 15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49808" y="1783080"/>
            <a:ext cx="2011680" cy="4297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6E6E73"/>
                </a:solidFill>
                <a:latin typeface="Arial"/>
              </a:rPr>
              <a:t>Component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44368" y="1783080"/>
            <a:ext cx="3931920" cy="4297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6E6E73"/>
                </a:solidFill>
                <a:latin typeface="Arial"/>
              </a:rPr>
              <a:t>Function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59168" y="1783080"/>
            <a:ext cx="2194560" cy="4297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6E6E73"/>
                </a:solidFill>
                <a:latin typeface="Arial"/>
              </a:rPr>
              <a:t>Input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36608" y="1783080"/>
            <a:ext cx="2039112" cy="4297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6E6E73"/>
                </a:solidFill>
                <a:latin typeface="Arial"/>
              </a:rPr>
              <a:t>Output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212848"/>
            <a:ext cx="2011680" cy="4297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UI (Streamlit)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44368" y="2212848"/>
            <a:ext cx="3931920" cy="4297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Screens, dialogs, chat; calls the backend via ui/services.py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59168" y="2212848"/>
            <a:ext cx="2194560" cy="4297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Clicks, typed questions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36608" y="2212848"/>
            <a:ext cx="2039112" cy="4297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Rendered answers, plans, checks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40080" y="2642616"/>
            <a:ext cx="10911535" cy="0"/>
          </a:xfrm>
          <a:prstGeom prst="line">
            <a:avLst/>
          </a:prstGeom>
          <a:ln w="9525">
            <a:solidFill>
              <a:srgbClr val="D2D2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49808" y="2642616"/>
            <a:ext cx="2011680" cy="4297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Orchestrator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44368" y="2642616"/>
            <a:ext cx="3931920" cy="4297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Keeps the conversation, routes each turn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9168" y="2642616"/>
            <a:ext cx="2194560" cy="4297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student_id, message, history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36608" y="2642616"/>
            <a:ext cx="2039112" cy="4297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Reply text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40080" y="3072384"/>
            <a:ext cx="10911535" cy="0"/>
          </a:xfrm>
          <a:prstGeom prst="line">
            <a:avLst/>
          </a:prstGeom>
          <a:ln w="9525">
            <a:solidFill>
              <a:srgbClr val="D2D2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49808" y="3072384"/>
            <a:ext cx="2011680" cy="4297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Intent router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44368" y="3072384"/>
            <a:ext cx="3931920" cy="4297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Keyword rules first, small LLM for the rest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59168" y="3072384"/>
            <a:ext cx="2194560" cy="4297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Message + last turns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36608" y="3072384"/>
            <a:ext cx="2039112" cy="4297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One of 8 intents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40080" y="3502152"/>
            <a:ext cx="10911535" cy="0"/>
          </a:xfrm>
          <a:prstGeom prst="line">
            <a:avLst/>
          </a:prstGeom>
          <a:ln w="9525">
            <a:solidFill>
              <a:srgbClr val="D2D2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749808" y="3502152"/>
            <a:ext cx="2011680" cy="4297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Exact query chain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944368" y="3502152"/>
            <a:ext cx="3931920" cy="4297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Answers facts with SQL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9168" y="3502152"/>
            <a:ext cx="2194560" cy="4297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Course id / student id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36608" y="3502152"/>
            <a:ext cx="2039112" cy="4297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Prereqs, schedule, record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40080" y="3931920"/>
            <a:ext cx="10911535" cy="0"/>
          </a:xfrm>
          <a:prstGeom prst="line">
            <a:avLst/>
          </a:prstGeom>
          <a:ln w="9525">
            <a:solidFill>
              <a:srgbClr val="D2D2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749808" y="3931920"/>
            <a:ext cx="2011680" cy="4297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RAG chain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44368" y="3931920"/>
            <a:ext cx="3931920" cy="4297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Retrieves catalog passages, grounded LLM answer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59168" y="3931920"/>
            <a:ext cx="2194560" cy="4297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Question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36608" y="3931920"/>
            <a:ext cx="2039112" cy="4297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Answer from the documents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40080" y="4361688"/>
            <a:ext cx="10911535" cy="0"/>
          </a:xfrm>
          <a:prstGeom prst="line">
            <a:avLst/>
          </a:prstGeom>
          <a:ln w="9525">
            <a:solidFill>
              <a:srgbClr val="D2D2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749808" y="4361688"/>
            <a:ext cx="2011680" cy="4297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Degree planner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944368" y="4361688"/>
            <a:ext cx="3931920" cy="4297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Orders the prerequisite graph into terms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9168" y="4361688"/>
            <a:ext cx="2194560" cy="4297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Student, program, load, summer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36608" y="4361688"/>
            <a:ext cx="2039112" cy="4297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DegreePlan JSON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640080" y="4791456"/>
            <a:ext cx="10911535" cy="0"/>
          </a:xfrm>
          <a:prstGeom prst="line">
            <a:avLst/>
          </a:prstGeom>
          <a:ln w="9525">
            <a:solidFill>
              <a:srgbClr val="D2D2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749808" y="4791456"/>
            <a:ext cx="2011680" cy="4297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Verification engine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944368" y="4791456"/>
            <a:ext cx="3931920" cy="4297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Six checks (a)–(f) before recommending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59168" y="4791456"/>
            <a:ext cx="2194560" cy="4297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Course, term, plan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36608" y="4791456"/>
            <a:ext cx="2039112" cy="4297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Pass / fail + reason ×6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640080" y="5221224"/>
            <a:ext cx="10911535" cy="0"/>
          </a:xfrm>
          <a:prstGeom prst="line">
            <a:avLst/>
          </a:prstGeom>
          <a:ln w="9525">
            <a:solidFill>
              <a:srgbClr val="D2D2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749808" y="5221224"/>
            <a:ext cx="2011680" cy="4297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Plan compare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944368" y="5221224"/>
            <a:ext cx="3931920" cy="4297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Diffs two plans after a change or switch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059168" y="5221224"/>
            <a:ext cx="2194560" cy="4297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Old plan, new plan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436608" y="5221224"/>
            <a:ext cx="2039112" cy="4297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Added, removed, moved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640080" y="5650992"/>
            <a:ext cx="10911535" cy="0"/>
          </a:xfrm>
          <a:prstGeom prst="line">
            <a:avLst/>
          </a:prstGeom>
          <a:ln w="9525">
            <a:solidFill>
              <a:srgbClr val="D2D2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749808" y="5650992"/>
            <a:ext cx="2011680" cy="4297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Trace logger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944368" y="5650992"/>
            <a:ext cx="3931920" cy="4297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Appends one JSON line per step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059168" y="5650992"/>
            <a:ext cx="2194560" cy="4297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Event + fields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436608" y="5650992"/>
            <a:ext cx="2039112" cy="4297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logs/traces.jsonl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640080" y="6080760"/>
            <a:ext cx="10911535" cy="0"/>
          </a:xfrm>
          <a:prstGeom prst="line">
            <a:avLst/>
          </a:prstGeom>
          <a:ln w="9525">
            <a:solidFill>
              <a:srgbClr val="D2D2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79615" y="644652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6E73"/>
                </a:solidFill>
                <a:latin typeface="Arial"/>
              </a:rPr>
              <a:t>Academic AI Advisor  ·  Architecture  · 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1D1D1F"/>
                </a:solidFill>
                <a:latin typeface="Arial"/>
              </a:rPr>
              <a:t>System Components and Relationships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6E6E73"/>
                </a:solidFill>
                <a:latin typeface="Arial"/>
              </a:rPr>
              <a:t>How the components connect: each one is an agreed interface, frozen early so five people could build in parallel.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83080"/>
            <a:ext cx="10911535" cy="457200"/>
          </a:xfrm>
          <a:prstGeom prst="roundRect">
            <a:avLst>
              <a:gd name="adj" fmla="val 15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49808" y="1783080"/>
            <a:ext cx="2560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6E6E73"/>
                </a:solidFill>
                <a:latin typeface="Arial"/>
              </a:rPr>
              <a:t>From → 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93008" y="1783080"/>
            <a:ext cx="4023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6E6E73"/>
                </a:solidFill>
                <a:latin typeface="Arial"/>
              </a:rPr>
              <a:t>Interface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99248" y="1783080"/>
            <a:ext cx="377647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6E6E73"/>
                </a:solidFill>
                <a:latin typeface="Arial"/>
              </a:rPr>
              <a:t>What passes between them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240280"/>
            <a:ext cx="2560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UI → backend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93008" y="2240280"/>
            <a:ext cx="4023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ui/services.py (the UI’s only door)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99248" y="2240280"/>
            <a:ext cx="377647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Clicks and questions in; (result, live / preview) out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40080" y="2697480"/>
            <a:ext cx="10911535" cy="0"/>
          </a:xfrm>
          <a:prstGeom prst="line">
            <a:avLst/>
          </a:prstGeom>
          <a:ln w="9525">
            <a:solidFill>
              <a:srgbClr val="D2D2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49808" y="2697480"/>
            <a:ext cx="2560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UI → Orchestrator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93008" y="2697480"/>
            <a:ext cx="4023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handle_message(student_id, message, history)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99248" y="2697480"/>
            <a:ext cx="377647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One chat turn; history makes follow-ups work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0080" y="3154680"/>
            <a:ext cx="10911535" cy="0"/>
          </a:xfrm>
          <a:prstGeom prst="line">
            <a:avLst/>
          </a:prstGeom>
          <a:ln w="9525">
            <a:solidFill>
              <a:srgbClr val="D2D2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49808" y="3154680"/>
            <a:ext cx="2560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Orchestrator → Router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93008" y="3154680"/>
            <a:ext cx="4023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route(message, history) → Intent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99248" y="3154680"/>
            <a:ext cx="377647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Which handler should answer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0080" y="3611880"/>
            <a:ext cx="10911535" cy="0"/>
          </a:xfrm>
          <a:prstGeom prst="line">
            <a:avLst/>
          </a:prstGeom>
          <a:ln w="9525">
            <a:solidFill>
              <a:srgbClr val="D2D2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49808" y="3611880"/>
            <a:ext cx="2560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Orchestrator → Planner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93008" y="3611880"/>
            <a:ext cx="4023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LangChain tools: tools.*.invoke(...)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99248" y="3611880"/>
            <a:ext cx="377647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Plan, add / drop, eligibility, switch major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40080" y="4069080"/>
            <a:ext cx="10911535" cy="0"/>
          </a:xfrm>
          <a:prstGeom prst="line">
            <a:avLst/>
          </a:prstGeom>
          <a:ln w="9525">
            <a:solidFill>
              <a:srgbClr val="D2D2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749808" y="4069080"/>
            <a:ext cx="2560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Planner → UI / Compare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93008" y="4069080"/>
            <a:ext cx="4023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DegreePlan.to_dict() JSON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99248" y="4069080"/>
            <a:ext cx="377647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Semesters, courses, credits, warnings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40080" y="4526280"/>
            <a:ext cx="10911535" cy="0"/>
          </a:xfrm>
          <a:prstGeom prst="line">
            <a:avLst/>
          </a:prstGeom>
          <a:ln w="9525">
            <a:solidFill>
              <a:srgbClr val="D2D2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749808" y="4526280"/>
            <a:ext cx="2560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Chains, Planner → SQLite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93008" y="4526280"/>
            <a:ext cx="4023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schema.sql tables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99248" y="4526280"/>
            <a:ext cx="377647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Courses, prerequisites, sections, records, slots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40080" y="4983480"/>
            <a:ext cx="10911535" cy="0"/>
          </a:xfrm>
          <a:prstGeom prst="line">
            <a:avLst/>
          </a:prstGeom>
          <a:ln w="9525">
            <a:solidFill>
              <a:srgbClr val="D2D2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749808" y="4983480"/>
            <a:ext cx="2560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RAG chain → Chroma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93008" y="4983480"/>
            <a:ext cx="4023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search_documents(query, k)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99248" y="4983480"/>
            <a:ext cx="377647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Top-k passages with source and score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640080" y="5440680"/>
            <a:ext cx="10911535" cy="0"/>
          </a:xfrm>
          <a:prstGeom prst="line">
            <a:avLst/>
          </a:prstGeom>
          <a:ln w="9525">
            <a:solidFill>
              <a:srgbClr val="D2D2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749808" y="5440680"/>
            <a:ext cx="2560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Every component → Log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93008" y="5440680"/>
            <a:ext cx="4023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trace(event, **fields)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99248" y="5440680"/>
            <a:ext cx="377647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One JSON line per step in logs/traces.jsonl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640080" y="5897880"/>
            <a:ext cx="10911535" cy="0"/>
          </a:xfrm>
          <a:prstGeom prst="line">
            <a:avLst/>
          </a:prstGeom>
          <a:ln w="9525">
            <a:solidFill>
              <a:srgbClr val="D2D2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79615" y="644652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6E73"/>
                </a:solidFill>
                <a:latin typeface="Arial"/>
              </a:rPr>
              <a:t>Academic AI Advisor  ·  Architecture  · 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1D1D1F"/>
                </a:solidFill>
                <a:latin typeface="Arial"/>
              </a:rPr>
              <a:t>Two databases, two kinds of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6E6E73"/>
                </a:solidFill>
                <a:latin typeface="Arial"/>
              </a:rPr>
              <a:t>Structured records go to SQL; text the LLM must read goes to a vector store.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5227167" cy="4434840"/>
          </a:xfrm>
          <a:prstGeom prst="roundRect">
            <a:avLst>
              <a:gd name="adj" fmla="val 5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60120" y="1920240"/>
            <a:ext cx="458708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E7B34"/>
                </a:solidFill>
                <a:latin typeface="Arial"/>
              </a:rPr>
              <a:t>SQLite: structural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514600"/>
            <a:ext cx="4587087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719"/>
              </a:spcAft>
            </a:pPr>
            <a:r>
              <a:rPr sz="1500" b="1">
                <a:solidFill>
                  <a:srgbClr val="1D1D1F"/>
                </a:solidFill>
                <a:latin typeface="Arial"/>
              </a:rPr>
              <a:t>106 courses</a:t>
            </a:r>
            <a:r>
              <a:rPr sz="1500" b="0">
                <a:solidFill>
                  <a:srgbClr val="1D1D1F"/>
                </a:solidFill>
                <a:latin typeface="Arial"/>
              </a:rPr>
              <a:t> with real catalog credit hours</a:t>
            </a:r>
          </a:p>
          <a:p>
            <a:pPr algn="l">
              <a:lnSpc>
                <a:spcPct val="120000"/>
              </a:lnSpc>
              <a:spcAft>
                <a:spcPts val="719"/>
              </a:spcAft>
            </a:pPr>
            <a:r>
              <a:rPr sz="1500" b="1">
                <a:solidFill>
                  <a:srgbClr val="1D1D1F"/>
                </a:solidFill>
                <a:latin typeface="Arial"/>
              </a:rPr>
              <a:t>132 prerequisite rules</a:t>
            </a:r>
            <a:r>
              <a:rPr sz="1500" b="0">
                <a:solidFill>
                  <a:srgbClr val="1D1D1F"/>
                </a:solidFill>
                <a:latin typeface="Arial"/>
              </a:rPr>
              <a:t> (OR groups, minimum grades, same-term allowed)</a:t>
            </a:r>
          </a:p>
          <a:p>
            <a:pPr algn="l">
              <a:lnSpc>
                <a:spcPct val="120000"/>
              </a:lnSpc>
              <a:spcAft>
                <a:spcPts val="719"/>
              </a:spcAft>
            </a:pPr>
            <a:r>
              <a:rPr sz="1500" b="1">
                <a:solidFill>
                  <a:srgbClr val="1D1D1F"/>
                </a:solidFill>
                <a:latin typeface="Arial"/>
              </a:rPr>
              <a:t>165 class sections</a:t>
            </a:r>
            <a:r>
              <a:rPr sz="1500" b="0">
                <a:solidFill>
                  <a:srgbClr val="1D1D1F"/>
                </a:solidFill>
                <a:latin typeface="Arial"/>
              </a:rPr>
              <a:t> for Fall 2026, Spring 2027, Summer 2027</a:t>
            </a:r>
          </a:p>
          <a:p>
            <a:pPr algn="l">
              <a:lnSpc>
                <a:spcPct val="120000"/>
              </a:lnSpc>
              <a:spcAft>
                <a:spcPts val="719"/>
              </a:spcAft>
            </a:pPr>
            <a:r>
              <a:rPr sz="1500" b="1">
                <a:solidFill>
                  <a:srgbClr val="1D1D1F"/>
                </a:solidFill>
                <a:latin typeface="Arial"/>
              </a:rPr>
              <a:t>4 student personas</a:t>
            </a:r>
            <a:r>
              <a:rPr sz="1500" b="0">
                <a:solidFill>
                  <a:srgbClr val="1D1D1F"/>
                </a:solidFill>
                <a:latin typeface="Arial"/>
              </a:rPr>
              <a:t> with transcripts and current enrollment</a:t>
            </a:r>
          </a:p>
          <a:p>
            <a:pPr algn="l">
              <a:lnSpc>
                <a:spcPct val="120000"/>
              </a:lnSpc>
              <a:spcAft>
                <a:spcPts val="719"/>
              </a:spcAft>
            </a:pPr>
            <a:r>
              <a:rPr sz="1500" b="1">
                <a:solidFill>
                  <a:srgbClr val="1D1D1F"/>
                </a:solidFill>
                <a:latin typeface="Arial"/>
              </a:rPr>
              <a:t>83 requirement slots</a:t>
            </a:r>
            <a:r>
              <a:rPr sz="1500" b="0">
                <a:solidFill>
                  <a:srgbClr val="1D1D1F"/>
                </a:solidFill>
                <a:latin typeface="Arial"/>
              </a:rPr>
              <a:t> for 2 programs (123 and 127 credits)</a:t>
            </a:r>
          </a:p>
          <a:p>
            <a:pPr algn="l">
              <a:lnSpc>
                <a:spcPct val="120000"/>
              </a:lnSpc>
              <a:spcAft>
                <a:spcPts val="719"/>
              </a:spcAft>
            </a:pPr>
            <a:r>
              <a:rPr sz="1500" b="1">
                <a:solidFill>
                  <a:srgbClr val="1D1D1F"/>
                </a:solidFill>
                <a:latin typeface="Arial"/>
              </a:rPr>
              <a:t>Plans and chat history</a:t>
            </a:r>
            <a:r>
              <a:rPr sz="1500" b="0">
                <a:solidFill>
                  <a:srgbClr val="1D1D1F"/>
                </a:solidFill>
                <a:latin typeface="Arial"/>
              </a:rPr>
              <a:t> saved per student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24447" y="1737360"/>
            <a:ext cx="5227167" cy="4434840"/>
          </a:xfrm>
          <a:prstGeom prst="roundRect">
            <a:avLst>
              <a:gd name="adj" fmla="val 5000"/>
            </a:avLst>
          </a:prstGeom>
          <a:solidFill>
            <a:srgbClr val="E8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644487" y="1920240"/>
            <a:ext cx="458708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71E3"/>
                </a:solidFill>
                <a:latin typeface="Arial"/>
              </a:rPr>
              <a:t>Chroma: unstructured 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44487" y="2514600"/>
            <a:ext cx="4587087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719"/>
              </a:spcAft>
            </a:pPr>
            <a:r>
              <a:rPr sz="1500" b="1">
                <a:solidFill>
                  <a:srgbClr val="1D1D1F"/>
                </a:solidFill>
                <a:latin typeface="Arial"/>
              </a:rPr>
              <a:t>77 catalog entries</a:t>
            </a:r>
            <a:r>
              <a:rPr sz="1500" b="0">
                <a:solidFill>
                  <a:srgbClr val="1D1D1F"/>
                </a:solidFill>
                <a:latin typeface="Arial"/>
              </a:rPr>
              <a:t> parsed from the UTA CSE course PDF</a:t>
            </a:r>
          </a:p>
          <a:p>
            <a:pPr algn="l">
              <a:lnSpc>
                <a:spcPct val="120000"/>
              </a:lnSpc>
              <a:spcAft>
                <a:spcPts val="719"/>
              </a:spcAft>
            </a:pPr>
            <a:r>
              <a:rPr sz="1500" b="1">
                <a:solidFill>
                  <a:srgbClr val="1D1D1F"/>
                </a:solidFill>
                <a:latin typeface="Arial"/>
              </a:rPr>
              <a:t>75 course descriptions</a:t>
            </a:r>
            <a:r>
              <a:rPr sz="1500" b="0">
                <a:solidFill>
                  <a:srgbClr val="1D1D1F"/>
                </a:solidFill>
                <a:latin typeface="Arial"/>
              </a:rPr>
              <a:t> (course-desc.jsonl)</a:t>
            </a:r>
          </a:p>
          <a:p>
            <a:pPr algn="l">
              <a:lnSpc>
                <a:spcPct val="120000"/>
              </a:lnSpc>
              <a:spcAft>
                <a:spcPts val="719"/>
              </a:spcAft>
            </a:pPr>
            <a:r>
              <a:rPr sz="1500" b="1">
                <a:solidFill>
                  <a:srgbClr val="1D1D1F"/>
                </a:solidFill>
                <a:latin typeface="Arial"/>
              </a:rPr>
              <a:t>3 degree documents</a:t>
            </a:r>
            <a:r>
              <a:rPr sz="1500" b="0">
                <a:solidFill>
                  <a:srgbClr val="1D1D1F"/>
                </a:solidFill>
                <a:latin typeface="Arial"/>
              </a:rPr>
              <a:t>: BS CS + Cybersecurity, BS SE + AI, major switch</a:t>
            </a:r>
          </a:p>
          <a:p>
            <a:pPr algn="l">
              <a:lnSpc>
                <a:spcPct val="120000"/>
              </a:lnSpc>
              <a:spcAft>
                <a:spcPts val="719"/>
              </a:spcAft>
            </a:pPr>
            <a:r>
              <a:rPr sz="1500" b="1">
                <a:solidFill>
                  <a:srgbClr val="1D1D1F"/>
                </a:solidFill>
                <a:latin typeface="Arial"/>
              </a:rPr>
              <a:t>Embedded with</a:t>
            </a:r>
            <a:r>
              <a:rPr sz="1500" b="0">
                <a:solidFill>
                  <a:srgbClr val="1D1D1F"/>
                </a:solidFill>
                <a:latin typeface="Arial"/>
              </a:rPr>
              <a:t> nomic-embed-text via Ollama, stored locally</a:t>
            </a:r>
          </a:p>
          <a:p>
            <a:pPr algn="l">
              <a:lnSpc>
                <a:spcPct val="120000"/>
              </a:lnSpc>
              <a:spcAft>
                <a:spcPts val="719"/>
              </a:spcAft>
            </a:pPr>
            <a:r>
              <a:rPr sz="1500" b="1">
                <a:solidFill>
                  <a:srgbClr val="1D1D1F"/>
                </a:solidFill>
                <a:latin typeface="Arial"/>
              </a:rPr>
              <a:t>Used by</a:t>
            </a:r>
            <a:r>
              <a:rPr sz="1500" b="0">
                <a:solidFill>
                  <a:srgbClr val="1D1D1F"/>
                </a:solidFill>
                <a:latin typeface="Arial"/>
              </a:rPr>
              <a:t> the RAG chain for open-ended questions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79615" y="644652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6E73"/>
                </a:solidFill>
                <a:latin typeface="Arial"/>
              </a:rPr>
              <a:t>Academic AI Advisor  ·  Architecture  · 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1D1D1F"/>
                </a:solidFill>
                <a:latin typeface="Arial"/>
              </a:rPr>
              <a:t>Design decisions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6E6E73"/>
                </a:solidFill>
                <a:latin typeface="Arial"/>
              </a:rPr>
              <a:t>What we considered, what we chose, and why.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10911535" cy="512064"/>
          </a:xfrm>
          <a:prstGeom prst="roundRect">
            <a:avLst>
              <a:gd name="adj" fmla="val 15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49808" y="1737360"/>
            <a:ext cx="15544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6E6E73"/>
                </a:solidFill>
                <a:latin typeface="Arial"/>
              </a:rPr>
              <a:t>Decision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87168" y="1737360"/>
            <a:ext cx="283464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6E6E73"/>
                </a:solidFill>
                <a:latin typeface="Arial"/>
              </a:rPr>
              <a:t>Options considered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04688" y="1737360"/>
            <a:ext cx="15544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6E6E73"/>
                </a:solidFill>
                <a:latin typeface="Arial"/>
              </a:rPr>
              <a:t>Chosen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42048" y="1737360"/>
            <a:ext cx="423367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6E6E73"/>
                </a:solidFill>
                <a:latin typeface="Arial"/>
              </a:rPr>
              <a:t>Why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249424"/>
            <a:ext cx="15544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LLM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87168" y="2249424"/>
            <a:ext cx="283464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OpenAI API · local Ollama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04688" y="2249424"/>
            <a:ext cx="15544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Ollama, qwen3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42048" y="2249424"/>
            <a:ext cx="423367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Free, offline demo, no keys; OpenAI kept as a switch in .env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40080" y="2761488"/>
            <a:ext cx="10911535" cy="0"/>
          </a:xfrm>
          <a:prstGeom prst="line">
            <a:avLst/>
          </a:prstGeom>
          <a:ln w="9525">
            <a:solidFill>
              <a:srgbClr val="D2D2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49808" y="2761488"/>
            <a:ext cx="15544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Vector DB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87168" y="2761488"/>
            <a:ext cx="283464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Pinecone · Chroma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04688" y="2761488"/>
            <a:ext cx="15544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Chroma (local)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42048" y="2761488"/>
            <a:ext cx="423367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No account or cost; LangChain integration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40080" y="3273552"/>
            <a:ext cx="10911535" cy="0"/>
          </a:xfrm>
          <a:prstGeom prst="line">
            <a:avLst/>
          </a:prstGeom>
          <a:ln w="9525">
            <a:solidFill>
              <a:srgbClr val="D2D2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49808" y="3273552"/>
            <a:ext cx="15544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Routing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87168" y="3273552"/>
            <a:ext cx="283464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LLM only · keywords only · hybrid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04688" y="3273552"/>
            <a:ext cx="15544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Hybrid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42048" y="3273552"/>
            <a:ext cx="423367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Keywords are instant and predictable; LLM only for ambiguous phrasing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40080" y="3785616"/>
            <a:ext cx="10911535" cy="0"/>
          </a:xfrm>
          <a:prstGeom prst="line">
            <a:avLst/>
          </a:prstGeom>
          <a:ln w="9525">
            <a:solidFill>
              <a:srgbClr val="D2D2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749808" y="3785616"/>
            <a:ext cx="15544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Degree planning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87168" y="3785616"/>
            <a:ext cx="283464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LLM writes the plan · algorithm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04688" y="3785616"/>
            <a:ext cx="15544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Deterministic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42048" y="3785616"/>
            <a:ext cx="423367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Plans must be correct: an LLM can't be trusted with prerequisites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40080" y="4297680"/>
            <a:ext cx="10911535" cy="0"/>
          </a:xfrm>
          <a:prstGeom prst="line">
            <a:avLst/>
          </a:prstGeom>
          <a:ln w="9525">
            <a:solidFill>
              <a:srgbClr val="D2D2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749808" y="4297680"/>
            <a:ext cx="15544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UI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487168" y="4297680"/>
            <a:ext cx="283464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CLI · desktop · web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504688" y="4297680"/>
            <a:ext cx="15544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Streamlit web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42048" y="4297680"/>
            <a:ext cx="423367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Dialog boxes and prompts in one app, quick to build in Python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40080" y="4809744"/>
            <a:ext cx="10911535" cy="0"/>
          </a:xfrm>
          <a:prstGeom prst="line">
            <a:avLst/>
          </a:prstGeom>
          <a:ln w="9525">
            <a:solidFill>
              <a:srgbClr val="D2D2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749808" y="4809744"/>
            <a:ext cx="15544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Layering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487168" y="4809744"/>
            <a:ext cx="283464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UI calls modules directly · one boundary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504688" y="4809744"/>
            <a:ext cx="15544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ui/services.py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42048" y="4809744"/>
            <a:ext cx="423367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UI never depends on backend internals; stubs show “not built yet”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640080" y="5321808"/>
            <a:ext cx="10911535" cy="0"/>
          </a:xfrm>
          <a:prstGeom prst="line">
            <a:avLst/>
          </a:prstGeom>
          <a:ln w="9525">
            <a:solidFill>
              <a:srgbClr val="D2D2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749808" y="5321808"/>
            <a:ext cx="15544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Prompts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487168" y="5321808"/>
            <a:ext cx="283464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In code · template files (Jinja)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504688" y="5321808"/>
            <a:ext cx="15544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In code (for now)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242048" y="5321808"/>
            <a:ext cx="423367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Next step: move to template files, per the professor’s tip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640080" y="5833872"/>
            <a:ext cx="10911535" cy="0"/>
          </a:xfrm>
          <a:prstGeom prst="line">
            <a:avLst/>
          </a:prstGeom>
          <a:ln w="9525">
            <a:solidFill>
              <a:srgbClr val="D2D2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79615" y="644652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6E73"/>
                </a:solidFill>
                <a:latin typeface="Arial"/>
              </a:rPr>
              <a:t>Academic AI Advisor  ·  Implementation  · 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1D1D1F"/>
                </a:solidFill>
                <a:latin typeface="Arial"/>
              </a:rPr>
              <a:t>One question, step by step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6E6E73"/>
                </a:solidFill>
                <a:latin typeface="Arial"/>
              </a:rPr>
              <a:t>“Which courses cover machine learning or AI topics?”, as recorded in the trace log.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1920240"/>
            <a:ext cx="502920" cy="502920"/>
          </a:xfrm>
          <a:prstGeom prst="ellipse">
            <a:avLst/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1920240"/>
            <a:ext cx="23774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D1D1F"/>
                </a:solidFill>
                <a:latin typeface="Consolas"/>
              </a:rPr>
              <a:t>user_msg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1920240"/>
            <a:ext cx="76809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D1D1F"/>
                </a:solidFill>
                <a:latin typeface="Arial"/>
              </a:rPr>
              <a:t>The question arrives with the student id and session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2633472"/>
            <a:ext cx="502920" cy="502920"/>
          </a:xfrm>
          <a:prstGeom prst="ellipse">
            <a:avLst/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0080" y="2633472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2633472"/>
            <a:ext cx="23774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D1D1F"/>
                </a:solidFill>
                <a:latin typeface="Consolas"/>
              </a:rPr>
              <a:t>router_keyword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2633472"/>
            <a:ext cx="76809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D1D1F"/>
                </a:solidFill>
                <a:latin typeface="Arial"/>
              </a:rPr>
              <a:t>A keyword rule matches “courses … cover” → semantic_query (no LLM call)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3346704"/>
            <a:ext cx="502920" cy="502920"/>
          </a:xfrm>
          <a:prstGeom prst="ellipse">
            <a:avLst/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0080" y="3346704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3346704"/>
            <a:ext cx="23774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D1D1F"/>
                </a:solidFill>
                <a:latin typeface="Consolas"/>
              </a:rPr>
              <a:t>retrieval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3346704"/>
            <a:ext cx="76809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D1D1F"/>
                </a:solidFill>
                <a:latin typeface="Arial"/>
              </a:rPr>
              <a:t>Chroma returns the 5 closest passages: CSE 4309, CSE 4308, CSE 4311 …</a:t>
            </a:r>
          </a:p>
        </p:txBody>
      </p:sp>
      <p:sp>
        <p:nvSpPr>
          <p:cNvPr id="17" name="Oval 16"/>
          <p:cNvSpPr/>
          <p:nvPr/>
        </p:nvSpPr>
        <p:spPr>
          <a:xfrm>
            <a:off x="640080" y="4059936"/>
            <a:ext cx="502920" cy="502920"/>
          </a:xfrm>
          <a:prstGeom prst="ellipse">
            <a:avLst/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40080" y="4059936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4059936"/>
            <a:ext cx="23774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D1D1F"/>
                </a:solidFill>
                <a:latin typeface="Consolas"/>
              </a:rPr>
              <a:t>llm_response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0" y="4059936"/>
            <a:ext cx="76809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D1D1F"/>
                </a:solidFill>
                <a:latin typeface="Arial"/>
              </a:rPr>
              <a:t>qwen3:4b answers using only those passages</a:t>
            </a:r>
          </a:p>
        </p:txBody>
      </p:sp>
      <p:sp>
        <p:nvSpPr>
          <p:cNvPr id="21" name="Oval 20"/>
          <p:cNvSpPr/>
          <p:nvPr/>
        </p:nvSpPr>
        <p:spPr>
          <a:xfrm>
            <a:off x="640080" y="4773168"/>
            <a:ext cx="502920" cy="502920"/>
          </a:xfrm>
          <a:prstGeom prst="ellipse">
            <a:avLst/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0080" y="4773168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17320" y="4773168"/>
            <a:ext cx="23774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D1D1F"/>
                </a:solidFill>
                <a:latin typeface="Consolas"/>
              </a:rPr>
              <a:t>assistant_msg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0480" y="4773168"/>
            <a:ext cx="76809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D1D1F"/>
                </a:solidFill>
                <a:latin typeface="Arial"/>
              </a:rPr>
              <a:t>Reply shown in the chat and stored in history for follow-ups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62356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6E6E73"/>
                </a:solidFill>
                <a:latin typeface="Arial"/>
              </a:rPr>
              <a:t>Exact questions take the same path but step 3 is a SQL query and there is no LLM call: they answer in milliseconds.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79615" y="644652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6E73"/>
                </a:solidFill>
                <a:latin typeface="Arial"/>
              </a:rPr>
              <a:t>Academic AI Advisor  ·  Implementation  · 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1D1D1F"/>
                </a:solidFill>
                <a:latin typeface="Arial"/>
              </a:rPr>
              <a:t>Code: how the components are connected (Kyle)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E6E73"/>
                </a:solidFill>
                <a:latin typeface="Consolas"/>
              </a:rPr>
              <a:t>advisor/orchestrator.py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45920"/>
            <a:ext cx="6949440" cy="4572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64922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def handle_message(student_id, message, history=None) -&gt; str: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# The single UI &lt;-&gt; backend contract: one call per chat turn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tracing.trace("user_msg", student_id=student_id, message=message)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memory.add_message(student_id, "user", message)   # chat history (SQLite)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/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intent = router.route(message, history)            # router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tracing.trace("intent", student_id=student_id, intent=intent.value)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/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try: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    reply = _dispatch(student_id, message, intent, history)  # one handler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except NotImplementedError as e:                   # module not merged yet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    reply = (f"That request routes to **{intent.value}**, which isn't "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             f"implemented yet.  `{e}`")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return _finish(student_id, reply, intent.value)    # trace + save reply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09560" y="16916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D1D1F"/>
                </a:solidFill>
                <a:latin typeface="Arial"/>
              </a:rPr>
              <a:t>What it does and why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09560" y="2194560"/>
            <a:ext cx="36576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719"/>
              </a:spcAft>
            </a:pPr>
            <a:r>
              <a:rPr sz="1500" b="0">
                <a:solidFill>
                  <a:srgbClr val="1D1D1F"/>
                </a:solidFill>
                <a:latin typeface="Arial"/>
              </a:rPr>
              <a:t>The UI calls only this function, through ui/services.py</a:t>
            </a:r>
          </a:p>
          <a:p>
            <a:pPr algn="l">
              <a:lnSpc>
                <a:spcPct val="120000"/>
              </a:lnSpc>
              <a:spcAft>
                <a:spcPts val="719"/>
              </a:spcAft>
            </a:pPr>
            <a:r>
              <a:rPr sz="1500" b="0">
                <a:solidFill>
                  <a:srgbClr val="1D1D1F"/>
                </a:solidFill>
                <a:latin typeface="Arial"/>
              </a:rPr>
              <a:t>It ties memory, router, handlers and the trace log together in one place</a:t>
            </a:r>
          </a:p>
          <a:p>
            <a:pPr algn="l">
              <a:lnSpc>
                <a:spcPct val="120000"/>
              </a:lnSpc>
              <a:spcAft>
                <a:spcPts val="719"/>
              </a:spcAft>
            </a:pPr>
            <a:r>
              <a:rPr sz="1500" b="0">
                <a:solidFill>
                  <a:srgbClr val="1D1D1F"/>
                </a:solidFill>
                <a:latin typeface="Arial"/>
              </a:rPr>
              <a:t>Every step is traced, which is what the execution log is made of</a:t>
            </a:r>
          </a:p>
          <a:p>
            <a:pPr algn="l">
              <a:lnSpc>
                <a:spcPct val="120000"/>
              </a:lnSpc>
              <a:spcAft>
                <a:spcPts val="719"/>
              </a:spcAft>
            </a:pPr>
            <a:r>
              <a:rPr sz="1500" b="0">
                <a:solidFill>
                  <a:srgbClr val="1D1D1F"/>
                </a:solidFill>
                <a:latin typeface="Arial"/>
              </a:rPr>
              <a:t>Unfinished modules degrade to a message instead of crashing, so we could integrate early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79615" y="644652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6E73"/>
                </a:solidFill>
                <a:latin typeface="Arial"/>
              </a:rPr>
              <a:t>Academic AI Advisor  ·  Implementation  · 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1D1D1F"/>
                </a:solidFill>
                <a:latin typeface="Arial"/>
              </a:rPr>
              <a:t>Code: requirement data (Jordan)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E6E73"/>
                </a:solidFill>
                <a:latin typeface="Consolas"/>
              </a:rPr>
              <a:t>advisor/seed/schema.sql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45920"/>
            <a:ext cx="6949440" cy="4572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64922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-- A program is a set of requirement slots. Fixed slots name one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-- course; elective slots list allowed courses in `options`.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CREATE TABLE requirement_slots (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slot_id    INTEGER PRIMARY KEY AUTOINCREMENT,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program_id TEXT NOT NULL REFERENCES degree_programs(program_id),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category   TEXT NOT NULL,   -- core, math_science, cse_core, ...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course_id  TEXT REFERENCES courses(course_id),  -- NULL = elective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options    TEXT NOT NULL DEFAULT '[]',          -- JSON course ids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credits    INTEGER NOT NULL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);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-- Prerequisites that may be taken in the same term (co-requisites).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CREATE TABLE prereq_concurrent (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course_id TEXT NOT NULL REFERENCES courses(course_id),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prereq_id TEXT NOT NULL REFERENCES courses(course_id),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PRIMARY KEY (course_id, prereq_id)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);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09560" y="16916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D1D1F"/>
                </a:solidFill>
                <a:latin typeface="Arial"/>
              </a:rPr>
              <a:t>What it does and why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09560" y="2194560"/>
            <a:ext cx="36576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719"/>
              </a:spcAft>
            </a:pPr>
            <a:r>
              <a:rPr sz="1500" b="0">
                <a:solidFill>
                  <a:srgbClr val="1D1D1F"/>
                </a:solidFill>
                <a:latin typeface="Arial"/>
              </a:rPr>
              <a:t>Turns the catalog’s degree plans into rows the planner can reason over</a:t>
            </a:r>
          </a:p>
          <a:p>
            <a:pPr algn="l">
              <a:lnSpc>
                <a:spcPct val="120000"/>
              </a:lnSpc>
              <a:spcAft>
                <a:spcPts val="719"/>
              </a:spcAft>
            </a:pPr>
            <a:r>
              <a:rPr sz="1500" b="0">
                <a:solidFill>
                  <a:srgbClr val="1D1D1F"/>
                </a:solidFill>
                <a:latin typeface="Arial"/>
              </a:rPr>
              <a:t>One table drives the planner, the six checks, and the progress rings</a:t>
            </a:r>
          </a:p>
          <a:p>
            <a:pPr algn="l">
              <a:lnSpc>
                <a:spcPct val="120000"/>
              </a:lnSpc>
              <a:spcAft>
                <a:spcPts val="719"/>
              </a:spcAft>
            </a:pPr>
            <a:r>
              <a:rPr sz="1500" b="0">
                <a:solidFill>
                  <a:srgbClr val="1D1D1F"/>
                </a:solidFill>
                <a:latin typeface="Arial"/>
              </a:rPr>
              <a:t>Generated from the real catalog by build_seed_data.py, not typed by hand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79615" y="644652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6E73"/>
                </a:solidFill>
                <a:latin typeface="Arial"/>
              </a:rPr>
              <a:t>Academic AI Advisor  ·  Implementation  · 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1D1D1F"/>
                </a:solidFill>
                <a:latin typeface="Arial"/>
              </a:rPr>
              <a:t>Code: intent router (Kyle)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E6E73"/>
                </a:solidFill>
                <a:latin typeface="Consolas"/>
              </a:rPr>
              <a:t>advisor/router.py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45920"/>
            <a:ext cx="6949440" cy="4572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64922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def route(message, history=None) -&gt; Intent: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# Stage 1: deterministic keyword pass: zero latency, predictable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if (kw := _keyword_route(message)) is not None: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    trace("router_keyword", intent=kw.value)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    return kw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# Stage 2: ambiguous phrasing: ask a small, fast LLM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recent = "\n".join(f"{m['role']}: {m['content'][:200]}"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                   for m in (history or [])[-4:])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try: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    resp = get_router_model().invoke(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        _PROMPT.format(history=recent, message=message))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    text = _strip_think(resp.content).lower()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except Exception as e:      # backend down -&gt; safe fallback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    trace("router_error", error=str(e))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    return Intent.OTHER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return next((i for i in Intent if i.value in text), Intent.OTHER)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09560" y="16916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D1D1F"/>
                </a:solidFill>
                <a:latin typeface="Arial"/>
              </a:rPr>
              <a:t>What it does and why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09560" y="2194560"/>
            <a:ext cx="36576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719"/>
              </a:spcAft>
            </a:pPr>
            <a:r>
              <a:rPr sz="1500" b="0">
                <a:solidFill>
                  <a:srgbClr val="1D1D1F"/>
                </a:solidFill>
                <a:latin typeface="Arial"/>
              </a:rPr>
              <a:t>Decides which handler answers each message (spec req 3)</a:t>
            </a:r>
          </a:p>
          <a:p>
            <a:pPr algn="l">
              <a:lnSpc>
                <a:spcPct val="120000"/>
              </a:lnSpc>
              <a:spcAft>
                <a:spcPts val="719"/>
              </a:spcAft>
            </a:pPr>
            <a:r>
              <a:rPr sz="1500" b="0">
                <a:solidFill>
                  <a:srgbClr val="1D1D1F"/>
                </a:solidFill>
                <a:latin typeface="Arial"/>
              </a:rPr>
              <a:t>Keywords catch clear phrasing instantly; qwen3:0.6b handles the rest</a:t>
            </a:r>
          </a:p>
          <a:p>
            <a:pPr algn="l">
              <a:lnSpc>
                <a:spcPct val="120000"/>
              </a:lnSpc>
              <a:spcAft>
                <a:spcPts val="719"/>
              </a:spcAft>
            </a:pPr>
            <a:r>
              <a:rPr sz="1500" b="0">
                <a:solidFill>
                  <a:srgbClr val="1D1D1F"/>
                </a:solidFill>
                <a:latin typeface="Arial"/>
              </a:rPr>
              <a:t>Recent turns let follow-ups like “what about 3 classes?” resolve</a:t>
            </a:r>
          </a:p>
          <a:p>
            <a:pPr algn="l">
              <a:lnSpc>
                <a:spcPct val="120000"/>
              </a:lnSpc>
              <a:spcAft>
                <a:spcPts val="719"/>
              </a:spcAft>
            </a:pPr>
            <a:r>
              <a:rPr sz="1500" b="0">
                <a:solidFill>
                  <a:srgbClr val="1D1D1F"/>
                </a:solidFill>
                <a:latin typeface="Arial"/>
              </a:rPr>
              <a:t>Never crashes a turn: any failure falls back to general chat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79615" y="644652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6E73"/>
                </a:solidFill>
                <a:latin typeface="Arial"/>
              </a:rPr>
              <a:t>Academic AI Advisor  ·  Implementation  · 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1D1D1F"/>
                </a:solidFill>
                <a:latin typeface="Arial"/>
              </a:rPr>
              <a:t>Code: orchestrator dispatch (Kyle)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E6E73"/>
                </a:solidFill>
                <a:latin typeface="Consolas"/>
              </a:rPr>
              <a:t>advisor/orchestrator.py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45920"/>
            <a:ext cx="6949440" cy="4572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64922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def _dispatch(student_id, message, intent, history) -&gt; str: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if intent in (Intent.EXACT_QUERY, Intent.STATUS_QUERY):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    return chains.answer_exact(message, student_id)      # SQL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if intent == Intent.SEMANTIC_QUERY: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    return chains.answer_semantic(message, student_id)   # RAG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if intent == Intent.GENERATE_PLAN: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    plan = tools.generate_degree_plan.invoke({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        "student_id": student_id,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        "include_summer": _wants_summer(message)})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    return _format_plan(plan)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if intent == Intent.MODIFY_PLAN: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    plan = tools.modify_plan.invoke({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        "student_id": student_id, **_extract_modify_args(message)})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    return _format_plan(plan)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if intent == Intent.SWITCH_MAJOR: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    return _handle_switch_major(student_id, message)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if intent == Intent.CHECK_ELIGIBILITY: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    return _handle_eligibility(student_id, message)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return _general_answer(message, history)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09560" y="16916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D1D1F"/>
                </a:solidFill>
                <a:latin typeface="Arial"/>
              </a:rPr>
              <a:t>What it does and why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09560" y="2194560"/>
            <a:ext cx="36576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719"/>
              </a:spcAft>
            </a:pPr>
            <a:r>
              <a:rPr sz="1500" b="0">
                <a:solidFill>
                  <a:srgbClr val="1D1D1F"/>
                </a:solidFill>
                <a:latin typeface="Arial"/>
              </a:rPr>
              <a:t>One place maps each intent to exactly one handler</a:t>
            </a:r>
          </a:p>
          <a:p>
            <a:pPr algn="l">
              <a:lnSpc>
                <a:spcPct val="120000"/>
              </a:lnSpc>
              <a:spcAft>
                <a:spcPts val="719"/>
              </a:spcAft>
            </a:pPr>
            <a:r>
              <a:rPr sz="1500" b="0">
                <a:solidFill>
                  <a:srgbClr val="1D1D1F"/>
                </a:solidFill>
                <a:latin typeface="Arial"/>
              </a:rPr>
              <a:t>Planner calls go through LangChain tools (tool.invoke), so the same operations are ready for an agent</a:t>
            </a:r>
          </a:p>
          <a:p>
            <a:pPr algn="l">
              <a:lnSpc>
                <a:spcPct val="120000"/>
              </a:lnSpc>
              <a:spcAft>
                <a:spcPts val="719"/>
              </a:spcAft>
            </a:pPr>
            <a:r>
              <a:rPr sz="1500" b="0">
                <a:solidFill>
                  <a:srgbClr val="1D1D1F"/>
                </a:solidFill>
                <a:latin typeface="Arial"/>
              </a:rPr>
              <a:t>Conversation history is passed in every turn (spec req 6)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79615" y="644652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6E73"/>
                </a:solidFill>
                <a:latin typeface="Arial"/>
              </a:rPr>
              <a:t>Academic AI Advisor  ·  Implementation  · 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1D1D1F"/>
                </a:solidFill>
                <a:latin typeface="Arial"/>
              </a:rPr>
              <a:t>Code: retrieval and grounded answers (Miguel)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E6E73"/>
                </a:solidFill>
                <a:latin typeface="Consolas"/>
              </a:rPr>
              <a:t>advisor/chains.py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45920"/>
            <a:ext cx="6949440" cy="4572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64922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def answer_semantic(query, student_id=None, k=5) -&gt; str: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if OVERRIDE_REQUEST.search(query):     # prompt-injection guard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    return "I can help with academic advising questions, ..."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matches = search_documents(query, k=k)  # Chroma + exact course ids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if not matches: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    return "I couldn't find that in the indexed documents."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references = [{"name": _source_name(h), "text": h["text"][:4000]}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              for h in matches]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system_message = (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    "You are an academic course and degree information assistant. "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    "Use ONLY facts explicitly stated in the supplied "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    "reference_documents ... If the sources do not answer the "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    "question, say what cannot be confirmed. ...")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# JSON keeps the student's text separate from the documents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payload = json.dumps({"student_question": query,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                      "reference_documents": references})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response = get_chat_model(temperature=0).invoke([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    ("system", system_message), ("human", payload)])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09560" y="16916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D1D1F"/>
                </a:solidFill>
                <a:latin typeface="Arial"/>
              </a:rPr>
              <a:t>What it does and why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09560" y="2194560"/>
            <a:ext cx="36576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719"/>
              </a:spcAft>
            </a:pPr>
            <a:r>
              <a:rPr sz="1500" b="0">
                <a:solidFill>
                  <a:srgbClr val="1D1D1F"/>
                </a:solidFill>
                <a:latin typeface="Arial"/>
              </a:rPr>
              <a:t>Answers open-ended questions from the catalog and degree documents</a:t>
            </a:r>
          </a:p>
          <a:p>
            <a:pPr algn="l">
              <a:lnSpc>
                <a:spcPct val="120000"/>
              </a:lnSpc>
              <a:spcAft>
                <a:spcPts val="719"/>
              </a:spcAft>
            </a:pPr>
            <a:r>
              <a:rPr sz="1500" b="0">
                <a:solidFill>
                  <a:srgbClr val="1D1D1F"/>
                </a:solidFill>
                <a:latin typeface="Arial"/>
              </a:rPr>
              <a:t>Named courses are fetched directly, then semantic matches fill in</a:t>
            </a:r>
          </a:p>
          <a:p>
            <a:pPr algn="l">
              <a:lnSpc>
                <a:spcPct val="120000"/>
              </a:lnSpc>
              <a:spcAft>
                <a:spcPts val="719"/>
              </a:spcAft>
            </a:pPr>
            <a:r>
              <a:rPr sz="1500" b="0">
                <a:solidFill>
                  <a:srgbClr val="1D1D1F"/>
                </a:solidFill>
                <a:latin typeface="Arial"/>
              </a:rPr>
              <a:t>The model may only use retrieved text, so answers stay factual</a:t>
            </a:r>
          </a:p>
          <a:p>
            <a:pPr algn="l">
              <a:lnSpc>
                <a:spcPct val="120000"/>
              </a:lnSpc>
              <a:spcAft>
                <a:spcPts val="719"/>
              </a:spcAft>
            </a:pPr>
            <a:r>
              <a:rPr sz="1500" b="0">
                <a:solidFill>
                  <a:srgbClr val="1D1D1F"/>
                </a:solidFill>
                <a:latin typeface="Arial"/>
              </a:rPr>
              <a:t>Question and documents are treated as untrusted data: injection attempts are refused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79615" y="644652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6E73"/>
                </a:solidFill>
                <a:latin typeface="Arial"/>
              </a:rPr>
              <a:t>Academic AI Advisor  ·  Implementation  ·  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1D1D1F"/>
                </a:solidFill>
                <a:latin typeface="Arial"/>
              </a:rPr>
              <a:t>Code: the six verification checks (Loc)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E6E73"/>
                </a:solidFill>
                <a:latin typeface="Consolas"/>
              </a:rPr>
              <a:t>advisor/planner.py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45920"/>
            <a:ext cx="6949440" cy="4572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64922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def _verify(context, cid, term, plan) -&gt; list[CheckResult]: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prereqs = _prerequisite_failures(context, cid, term, plan)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fulfills = _coverage(context, after) &gt; _coverage(context, before)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schedule_ok = _section_assignment(context, semester_ids, term) is not None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return [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    CheckResult("prerequisites_met", not prereqs, ...),          # (a)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    CheckResult("not_already_passed",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                cid not in passed and not scheduled_elsewhere, ...),  # (b)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    CheckResult("fulfills_degree_requirement", fulfills, ...),   # (c)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    CheckResult("no_schedule_conflict", schedule_ok, ...),       # (d)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    CheckResult("within_semester_credit_cap",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                semester_credits &lt;= semester_cap, ...),          # (e)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    CheckResult("within_degree_credit_cap",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                degree_credits &lt;= degree_cap, ...),              # (f)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09560" y="16916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D1D1F"/>
                </a:solidFill>
                <a:latin typeface="Arial"/>
              </a:rPr>
              <a:t>What it does and why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09560" y="2194560"/>
            <a:ext cx="36576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719"/>
              </a:spcAft>
            </a:pPr>
            <a:r>
              <a:rPr sz="1500" b="0">
                <a:solidFill>
                  <a:srgbClr val="1D1D1F"/>
                </a:solidFill>
                <a:latin typeface="Arial"/>
              </a:rPr>
              <a:t>Runs before any course is recommended or added (spec req 4)</a:t>
            </a:r>
          </a:p>
          <a:p>
            <a:pPr algn="l">
              <a:lnSpc>
                <a:spcPct val="120000"/>
              </a:lnSpc>
              <a:spcAft>
                <a:spcPts val="719"/>
              </a:spcAft>
            </a:pPr>
            <a:r>
              <a:rPr sz="1500" b="0">
                <a:solidFill>
                  <a:srgbClr val="1D1D1F"/>
                </a:solidFill>
                <a:latin typeface="Arial"/>
              </a:rPr>
              <a:t>Each check returns pass/fail and a human-readable reason</a:t>
            </a:r>
          </a:p>
          <a:p>
            <a:pPr algn="l">
              <a:lnSpc>
                <a:spcPct val="120000"/>
              </a:lnSpc>
              <a:spcAft>
                <a:spcPts val="719"/>
              </a:spcAft>
            </a:pPr>
            <a:r>
              <a:rPr sz="1500" b="0">
                <a:solidFill>
                  <a:srgbClr val="1D1D1F"/>
                </a:solidFill>
                <a:latin typeface="Arial"/>
              </a:rPr>
              <a:t>Schedule check searches for a conflict-free set of real sections</a:t>
            </a:r>
          </a:p>
          <a:p>
            <a:pPr algn="l">
              <a:lnSpc>
                <a:spcPct val="120000"/>
              </a:lnSpc>
              <a:spcAft>
                <a:spcPts val="719"/>
              </a:spcAft>
            </a:pPr>
            <a:r>
              <a:rPr sz="1500" b="0">
                <a:solidFill>
                  <a:srgbClr val="1D1D1F"/>
                </a:solidFill>
                <a:latin typeface="Arial"/>
              </a:rPr>
              <a:t>Pure Python over SQLite: no LLM, so results are exact and repeatable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79615" y="644652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6E73"/>
                </a:solidFill>
                <a:latin typeface="Arial"/>
              </a:rPr>
              <a:t>Academic AI Advisor  ·  Implementation  ·  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1D1D1F"/>
                </a:solidFill>
                <a:latin typeface="Arial"/>
              </a:rPr>
              <a:t>Code: UI boundary and execution traces (Talha)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E6E73"/>
                </a:solidFill>
                <a:latin typeface="Consolas"/>
              </a:rPr>
              <a:t>ui/services.py, advisor/tracing.py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45920"/>
            <a:ext cx="6949440" cy="4572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64922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def _call(action, student_id, live, fallback, use_preview, **fields):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try: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    result, source = live(), "live"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except NotImplementedError as e:      # teammate's module not merged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    if not use_preview: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        raise NotReady(str(e)) from e  # UI shows "not built yet"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    result, source = fallback(), "preview"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tracing.trace("ui_action", student_id=student_id, action=action,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              source=source, **fields)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return result, source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/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def trace(event: str, **fields) -&gt; None:   # one JSON line per step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record = {"ts": datetime.now(timezone.utc).isoformat(),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          "event": event,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          **({"session": s} if (s := _session.get()) else {}),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          **fields}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with TRACE_LOG.open("a") as f: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    f.write(json.dumps(record, default=str) + "\n")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09560" y="16916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D1D1F"/>
                </a:solidFill>
                <a:latin typeface="Arial"/>
              </a:rPr>
              <a:t>What it does and why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09560" y="2194560"/>
            <a:ext cx="36576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719"/>
              </a:spcAft>
            </a:pPr>
            <a:r>
              <a:rPr sz="1500" b="0">
                <a:solidFill>
                  <a:srgbClr val="1D1D1F"/>
                </a:solidFill>
                <a:latin typeface="Arial"/>
              </a:rPr>
              <a:t>The UI touches the backend in one file, so each layer was built in parallel</a:t>
            </a:r>
          </a:p>
          <a:p>
            <a:pPr algn="l">
              <a:lnSpc>
                <a:spcPct val="120000"/>
              </a:lnSpc>
              <a:spcAft>
                <a:spcPts val="719"/>
              </a:spcAft>
            </a:pPr>
            <a:r>
              <a:rPr sz="1500" b="0">
                <a:solidFill>
                  <a:srgbClr val="1D1D1F"/>
                </a:solidFill>
                <a:latin typeface="Arial"/>
              </a:rPr>
              <a:t>Every UI action and chat step lands in logs/traces.jsonl, tagged by session</a:t>
            </a:r>
          </a:p>
          <a:p>
            <a:pPr algn="l">
              <a:lnSpc>
                <a:spcPct val="120000"/>
              </a:lnSpc>
              <a:spcAft>
                <a:spcPts val="719"/>
              </a:spcAft>
            </a:pPr>
            <a:r>
              <a:rPr sz="1500" b="0">
                <a:solidFill>
                  <a:srgbClr val="1D1D1F"/>
                </a:solidFill>
                <a:latin typeface="Arial"/>
              </a:rPr>
              <a:t>The Traces screen and scripts/render_traces.py turn it into the execution log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79615" y="644652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6E73"/>
                </a:solidFill>
                <a:latin typeface="Arial"/>
              </a:rPr>
              <a:t>Academic AI Advisor  ·  Demo screenshots  ·  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1D1D1F"/>
                </a:solidFill>
                <a:latin typeface="Arial"/>
              </a:rPr>
              <a:t>Demo · Req 1, 7: the student’s record at a glance</a:t>
            </a:r>
          </a:p>
        </p:txBody>
      </p:sp>
      <p:pic>
        <p:nvPicPr>
          <p:cNvPr id="4" name="Picture 3" descr="01_overview_rings.png"/>
          <p:cNvPicPr>
            <a:picLocks noChangeAspect="1"/>
          </p:cNvPicPr>
          <p:nvPr/>
        </p:nvPicPr>
        <p:blipFill>
          <a:blip r:embed="rId2"/>
          <a:srcRect l="13000" r="13000" t="20000" b="3682"/>
          <a:stretch>
            <a:fillRect/>
          </a:stretch>
        </p:blipFill>
        <p:spPr>
          <a:xfrm>
            <a:off x="640080" y="1371600"/>
            <a:ext cx="7589520" cy="4892040"/>
          </a:xfrm>
          <a:prstGeom prst="rect">
            <a:avLst/>
          </a:prstGeom>
          <a:ln w="9525">
            <a:solidFill>
              <a:srgbClr val="D2D2D7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549640" y="14173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71E3"/>
                </a:solidFill>
                <a:latin typeface="Arial"/>
              </a:rPr>
              <a:t>Input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49640" y="1764792"/>
            <a:ext cx="3017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D1D1F"/>
                </a:solidFill>
                <a:latin typeface="Arial"/>
              </a:rPr>
              <a:t>Pick a student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3017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71E3"/>
                </a:solidFill>
                <a:latin typeface="Arial"/>
              </a:rPr>
              <a:t>Output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3364992"/>
            <a:ext cx="3017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D1D1F"/>
                </a:solidFill>
                <a:latin typeface="Arial"/>
              </a:rPr>
              <a:t>Credits done, in progress, and per-area requirement rings from SQLite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46177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71E3"/>
                </a:solidFill>
                <a:latin typeface="Arial"/>
              </a:rPr>
              <a:t>What it means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49640" y="4965192"/>
            <a:ext cx="3017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D1D1F"/>
                </a:solidFill>
                <a:latin typeface="Arial"/>
              </a:rPr>
              <a:t>Sam has 32 of 123 credits; blue is this fall’s 4 classes. The certificate ring is empty: still to plan.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79615" y="644652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6E73"/>
                </a:solidFill>
                <a:latin typeface="Arial"/>
              </a:rPr>
              <a:t>Academic AI Advisor  ·  Demo screenshots  ·  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1D1D1F"/>
                </a:solidFill>
                <a:latin typeface="Arial"/>
              </a:rPr>
              <a:t>Demo · Req 2: a degree plan</a:t>
            </a:r>
          </a:p>
        </p:txBody>
      </p:sp>
      <p:pic>
        <p:nvPicPr>
          <p:cNvPr id="4" name="Picture 3" descr="03_plan_years.png"/>
          <p:cNvPicPr>
            <a:picLocks noChangeAspect="1"/>
          </p:cNvPicPr>
          <p:nvPr/>
        </p:nvPicPr>
        <p:blipFill>
          <a:blip r:embed="rId2"/>
          <a:srcRect l="13000" r="13000" t="47000" b="9027"/>
          <a:stretch>
            <a:fillRect/>
          </a:stretch>
        </p:blipFill>
        <p:spPr>
          <a:xfrm>
            <a:off x="640080" y="1371600"/>
            <a:ext cx="7589520" cy="4892040"/>
          </a:xfrm>
          <a:prstGeom prst="rect">
            <a:avLst/>
          </a:prstGeom>
          <a:ln w="9525">
            <a:solidFill>
              <a:srgbClr val="D2D2D7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549640" y="14173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71E3"/>
                </a:solidFill>
                <a:latin typeface="Arial"/>
              </a:rPr>
              <a:t>Input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49640" y="1764792"/>
            <a:ext cx="3017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D1D1F"/>
                </a:solidFill>
                <a:latin typeface="Arial"/>
              </a:rPr>
              <a:t>Plan → Build plan (auto load, no summer) → Years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3017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71E3"/>
                </a:solidFill>
                <a:latin typeface="Arial"/>
              </a:rPr>
              <a:t>Output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3364992"/>
            <a:ext cx="3017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D1D1F"/>
                </a:solidFill>
                <a:latin typeface="Arial"/>
              </a:rPr>
              <a:t>Completed terms (green), then planned semesters (blue), year by year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46177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71E3"/>
                </a:solidFill>
                <a:latin typeface="Arial"/>
              </a:rPr>
              <a:t>What it means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49640" y="4965192"/>
            <a:ext cx="3017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D1D1F"/>
                </a:solidFill>
                <a:latin typeface="Arial"/>
              </a:rPr>
              <a:t>The planner fills semesters in prerequisite order within the 15-credit cap; the rings show what each area still needs.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79615" y="644652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6E73"/>
                </a:solidFill>
                <a:latin typeface="Arial"/>
              </a:rPr>
              <a:t>Academic AI Advisor  ·  Demo screenshots  ·  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1D1D1F"/>
                </a:solidFill>
                <a:latin typeface="Arial"/>
              </a:rPr>
              <a:t>Demo · Req 4: six checks before recommending</a:t>
            </a:r>
          </a:p>
        </p:txBody>
      </p:sp>
      <p:pic>
        <p:nvPicPr>
          <p:cNvPr id="4" name="Picture 3" descr="05_six_checks.png"/>
          <p:cNvPicPr>
            <a:picLocks noChangeAspect="1"/>
          </p:cNvPicPr>
          <p:nvPr/>
        </p:nvPicPr>
        <p:blipFill>
          <a:blip r:embed="rId2"/>
          <a:srcRect l="13000" r="13000" t="12000" b="33916"/>
          <a:stretch>
            <a:fillRect/>
          </a:stretch>
        </p:blipFill>
        <p:spPr>
          <a:xfrm>
            <a:off x="640080" y="1371600"/>
            <a:ext cx="7589520" cy="4892040"/>
          </a:xfrm>
          <a:prstGeom prst="rect">
            <a:avLst/>
          </a:prstGeom>
          <a:ln w="9525">
            <a:solidFill>
              <a:srgbClr val="D2D2D7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549640" y="14173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71E3"/>
                </a:solidFill>
                <a:latin typeface="Arial"/>
              </a:rPr>
              <a:t>Input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49640" y="1764792"/>
            <a:ext cx="3017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D1D1F"/>
                </a:solidFill>
                <a:latin typeface="Arial"/>
              </a:rPr>
              <a:t>Check a course: CSE 4344, Spring 2027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3017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71E3"/>
                </a:solidFill>
                <a:latin typeface="Arial"/>
              </a:rPr>
              <a:t>Output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3364992"/>
            <a:ext cx="3017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D1D1F"/>
                </a:solidFill>
                <a:latin typeface="Arial"/>
              </a:rPr>
              <a:t>Checks (a)–(f), each with pass/fail and the reason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46177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71E3"/>
                </a:solidFill>
                <a:latin typeface="Arial"/>
              </a:rPr>
              <a:t>What it means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49640" y="4965192"/>
            <a:ext cx="3017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D1D1F"/>
                </a:solidFill>
                <a:latin typeface="Arial"/>
              </a:rPr>
              <a:t>A course is only recommended if all six pass; the reasons tell the student exactly what to fix.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79615" y="644652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6E73"/>
                </a:solidFill>
                <a:latin typeface="Arial"/>
              </a:rPr>
              <a:t>Academic AI Advisor  ·  Demo screenshots  ·  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1D1D1F"/>
                </a:solidFill>
                <a:latin typeface="Arial"/>
              </a:rPr>
              <a:t>Demo · Constraints: a course the system refuses</a:t>
            </a:r>
          </a:p>
        </p:txBody>
      </p:sp>
      <p:pic>
        <p:nvPicPr>
          <p:cNvPr id="4" name="Picture 3" descr="04_add_dialog_checks.png"/>
          <p:cNvPicPr>
            <a:picLocks noChangeAspect="1"/>
          </p:cNvPicPr>
          <p:nvPr/>
        </p:nvPicPr>
        <p:blipFill>
          <a:blip r:embed="rId2"/>
          <a:srcRect l="4000" r="4000" b="5118"/>
          <a:stretch>
            <a:fillRect/>
          </a:stretch>
        </p:blipFill>
        <p:spPr>
          <a:xfrm>
            <a:off x="640080" y="1371600"/>
            <a:ext cx="7589520" cy="4892040"/>
          </a:xfrm>
          <a:prstGeom prst="rect">
            <a:avLst/>
          </a:prstGeom>
          <a:ln w="9525">
            <a:solidFill>
              <a:srgbClr val="D2D2D7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549640" y="14173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71E3"/>
                </a:solidFill>
                <a:latin typeface="Arial"/>
              </a:rPr>
              <a:t>Input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49640" y="1764792"/>
            <a:ext cx="3017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D1D1F"/>
                </a:solidFill>
                <a:latin typeface="Arial"/>
              </a:rPr>
              <a:t>Plan → Add a course: BIOL 1441, Fall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3017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71E3"/>
                </a:solidFill>
                <a:latin typeface="Arial"/>
              </a:rPr>
              <a:t>Output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3364992"/>
            <a:ext cx="3017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D1D1F"/>
                </a:solidFill>
                <a:latin typeface="Arial"/>
              </a:rPr>
              <a:t>Five checks pass; (e) fails at 17 of 15 semester credits, so Add stays disabled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46177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71E3"/>
                </a:solidFill>
                <a:latin typeface="Arial"/>
              </a:rPr>
              <a:t>What it means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49640" y="4965192"/>
            <a:ext cx="3017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D1D1F"/>
                </a:solidFill>
                <a:latin typeface="Arial"/>
              </a:rPr>
              <a:t>Constraints are enforced, not just reported: the advisor won’t add a course that breaks one.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79615" y="644652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6E73"/>
                </a:solidFill>
                <a:latin typeface="Arial"/>
              </a:rPr>
              <a:t>Academic AI Advisor  ·  Demo screenshots  ·  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1D1D1F"/>
                </a:solidFill>
                <a:latin typeface="Arial"/>
              </a:rPr>
              <a:t>Demo · Req 3: exact vs. semantic questions</a:t>
            </a:r>
          </a:p>
        </p:txBody>
      </p:sp>
      <p:pic>
        <p:nvPicPr>
          <p:cNvPr id="4" name="Picture 3" descr="07_ask_semantic_rag.png"/>
          <p:cNvPicPr>
            <a:picLocks noChangeAspect="1"/>
          </p:cNvPicPr>
          <p:nvPr/>
        </p:nvPicPr>
        <p:blipFill>
          <a:blip r:embed="rId2"/>
          <a:srcRect l="13000" r="13000" t="3000" b="20682"/>
          <a:stretch>
            <a:fillRect/>
          </a:stretch>
        </p:blipFill>
        <p:spPr>
          <a:xfrm>
            <a:off x="640080" y="1371600"/>
            <a:ext cx="7589520" cy="4892040"/>
          </a:xfrm>
          <a:prstGeom prst="rect">
            <a:avLst/>
          </a:prstGeom>
          <a:ln w="9525">
            <a:solidFill>
              <a:srgbClr val="D2D2D7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549640" y="14173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71E3"/>
                </a:solidFill>
                <a:latin typeface="Arial"/>
              </a:rPr>
              <a:t>Input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49640" y="1764792"/>
            <a:ext cx="3017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D1D1F"/>
                </a:solidFill>
                <a:latin typeface="Arial"/>
              </a:rPr>
              <a:t>“Prerequisites for CSE 3310?” then “Which courses cover machine learning?”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3017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71E3"/>
                </a:solidFill>
                <a:latin typeface="Arial"/>
              </a:rPr>
              <a:t>Output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3364992"/>
            <a:ext cx="3017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D1D1F"/>
                </a:solidFill>
                <a:latin typeface="Arial"/>
              </a:rPr>
              <a:t>SQL answer in milliseconds; RAG answer grounded in the catalog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46177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71E3"/>
                </a:solidFill>
                <a:latin typeface="Arial"/>
              </a:rPr>
              <a:t>What it means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49640" y="4965192"/>
            <a:ext cx="3017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D1D1F"/>
                </a:solidFill>
                <a:latin typeface="Arial"/>
              </a:rPr>
              <a:t>Same chat, two paths: the router sent the first to SQL and the second to Chroma + the LLM.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79615" y="644652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6E73"/>
                </a:solidFill>
                <a:latin typeface="Arial"/>
              </a:rPr>
              <a:t>Academic AI Advisor  ·  Demo screenshots  ·  23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1D1D1F"/>
                </a:solidFill>
                <a:latin typeface="Arial"/>
              </a:rPr>
              <a:t>Demo · Req 6: the conversation remembers</a:t>
            </a:r>
          </a:p>
        </p:txBody>
      </p:sp>
      <p:pic>
        <p:nvPicPr>
          <p:cNvPr id="4" name="Picture 3" descr="08_ask_followup_memory.png"/>
          <p:cNvPicPr>
            <a:picLocks noChangeAspect="1"/>
          </p:cNvPicPr>
          <p:nvPr/>
        </p:nvPicPr>
        <p:blipFill>
          <a:blip r:embed="rId2"/>
          <a:srcRect l="13000" r="13000" b="23682"/>
          <a:stretch>
            <a:fillRect/>
          </a:stretch>
        </p:blipFill>
        <p:spPr>
          <a:xfrm>
            <a:off x="640080" y="1371600"/>
            <a:ext cx="7589520" cy="4892040"/>
          </a:xfrm>
          <a:prstGeom prst="rect">
            <a:avLst/>
          </a:prstGeom>
          <a:ln w="9525">
            <a:solidFill>
              <a:srgbClr val="D2D2D7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549640" y="14173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71E3"/>
                </a:solidFill>
                <a:latin typeface="Arial"/>
              </a:rPr>
              <a:t>Input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49640" y="1764792"/>
            <a:ext cx="3017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D1D1F"/>
                </a:solidFill>
                <a:latin typeface="Arial"/>
              </a:rPr>
              <a:t>“Generate my degree plan”, then “What about only 3 classes next semester?”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3017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71E3"/>
                </a:solidFill>
                <a:latin typeface="Arial"/>
              </a:rPr>
              <a:t>Output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3364992"/>
            <a:ext cx="3017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D1D1F"/>
                </a:solidFill>
                <a:latin typeface="Arial"/>
              </a:rPr>
              <a:t>A new plan with 3 classes in Spring 2027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46177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71E3"/>
                </a:solidFill>
                <a:latin typeface="Arial"/>
              </a:rPr>
              <a:t>What it means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49640" y="4965192"/>
            <a:ext cx="3017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D1D1F"/>
                </a:solidFill>
                <a:latin typeface="Arial"/>
              </a:rPr>
              <a:t>The follow-up has no subject of its own; the history passed into the turn makes it resolvable.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79615" y="644652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6E73"/>
                </a:solidFill>
                <a:latin typeface="Arial"/>
              </a:rPr>
              <a:t>Academic AI Advisor  ·  Demo screenshots  ·  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1D1D1F"/>
                </a:solidFill>
                <a:latin typeface="Arial"/>
              </a:rPr>
              <a:t>Demo · Req 5: switching major, compared</a:t>
            </a:r>
          </a:p>
        </p:txBody>
      </p:sp>
      <p:pic>
        <p:nvPicPr>
          <p:cNvPr id="4" name="Picture 3" descr="09_switch_major_compare.png"/>
          <p:cNvPicPr>
            <a:picLocks noChangeAspect="1"/>
          </p:cNvPicPr>
          <p:nvPr/>
        </p:nvPicPr>
        <p:blipFill>
          <a:blip r:embed="rId2"/>
          <a:srcRect l="13000" r="13000" t="17000" b="29464"/>
          <a:stretch>
            <a:fillRect/>
          </a:stretch>
        </p:blipFill>
        <p:spPr>
          <a:xfrm>
            <a:off x="640080" y="1371600"/>
            <a:ext cx="7589520" cy="4892040"/>
          </a:xfrm>
          <a:prstGeom prst="rect">
            <a:avLst/>
          </a:prstGeom>
          <a:ln w="9525">
            <a:solidFill>
              <a:srgbClr val="D2D2D7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549640" y="14173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71E3"/>
                </a:solidFill>
                <a:latin typeface="Arial"/>
              </a:rPr>
              <a:t>Input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49640" y="1764792"/>
            <a:ext cx="3017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D1D1F"/>
                </a:solidFill>
                <a:latin typeface="Arial"/>
              </a:rPr>
              <a:t>Switch major → Software Engineering + AI → Compare plans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3017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71E3"/>
                </a:solidFill>
                <a:latin typeface="Arial"/>
              </a:rPr>
              <a:t>Output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3364992"/>
            <a:ext cx="3017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D1D1F"/>
                </a:solidFill>
                <a:latin typeface="Arial"/>
              </a:rPr>
              <a:t>Current plan and the new one side by side, plus what changes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46177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71E3"/>
                </a:solidFill>
                <a:latin typeface="Arial"/>
              </a:rPr>
              <a:t>What it means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49640" y="4965192"/>
            <a:ext cx="3017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D1D1F"/>
                </a:solidFill>
                <a:latin typeface="Arial"/>
              </a:rPr>
              <a:t>Lets a student see the cost of switching before committing to it.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79615" y="644652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6E73"/>
                </a:solidFill>
                <a:latin typeface="Arial"/>
              </a:rPr>
              <a:t>Academic AI Advisor  ·  Demo screenshots  ·  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1D1D1F"/>
                </a:solidFill>
                <a:latin typeface="Arial"/>
              </a:rPr>
              <a:t>Demo · Deliverable: the execution trace</a:t>
            </a:r>
          </a:p>
        </p:txBody>
      </p:sp>
      <p:pic>
        <p:nvPicPr>
          <p:cNvPr id="4" name="Picture 3" descr="10_execution_traces.png"/>
          <p:cNvPicPr>
            <a:picLocks noChangeAspect="1"/>
          </p:cNvPicPr>
          <p:nvPr/>
        </p:nvPicPr>
        <p:blipFill>
          <a:blip r:embed="rId2"/>
          <a:srcRect l="13000" r="13000" t="12000" b="59405"/>
          <a:stretch>
            <a:fillRect/>
          </a:stretch>
        </p:blipFill>
        <p:spPr>
          <a:xfrm>
            <a:off x="640080" y="1371600"/>
            <a:ext cx="7589520" cy="4892040"/>
          </a:xfrm>
          <a:prstGeom prst="rect">
            <a:avLst/>
          </a:prstGeom>
          <a:ln w="9525">
            <a:solidFill>
              <a:srgbClr val="D2D2D7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549640" y="14173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71E3"/>
                </a:solidFill>
                <a:latin typeface="Arial"/>
              </a:rPr>
              <a:t>Input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49640" y="1764792"/>
            <a:ext cx="3017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D1D1F"/>
                </a:solidFill>
                <a:latin typeface="Arial"/>
              </a:rPr>
              <a:t>More → Show execution traces → Traces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3017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71E3"/>
                </a:solidFill>
                <a:latin typeface="Arial"/>
              </a:rPr>
              <a:t>Output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3364992"/>
            <a:ext cx="3017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D1D1F"/>
                </a:solidFill>
                <a:latin typeface="Arial"/>
              </a:rPr>
              <a:t>Every turn and action, step by step, with timings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46177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71E3"/>
                </a:solidFill>
                <a:latin typeface="Arial"/>
              </a:rPr>
              <a:t>What it means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49640" y="4965192"/>
            <a:ext cx="3017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D1D1F"/>
                </a:solidFill>
                <a:latin typeface="Arial"/>
              </a:rPr>
              <a:t>This is the required log of execution traces; the zip has the same data as JSONL and as a readable report.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79615" y="644652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6E73"/>
                </a:solidFill>
                <a:latin typeface="Arial"/>
              </a:rPr>
              <a:t>Academic AI Advisor  ·  Live demo  ·  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1D1D1F"/>
                </a:solidFill>
                <a:latin typeface="Arial"/>
              </a:rPr>
              <a:t>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6E6E73"/>
                </a:solidFill>
                <a:latin typeface="Arial"/>
              </a:rPr>
              <a:t>The same walk-through in the running app, if time allows.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566928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816"/>
              </a:spcAft>
            </a:pPr>
            <a:r>
              <a:rPr sz="1700" b="1">
                <a:solidFill>
                  <a:srgbClr val="1D1D1F"/>
                </a:solidFill>
                <a:latin typeface="Arial"/>
              </a:rPr>
              <a:t>1  </a:t>
            </a:r>
            <a:r>
              <a:rPr sz="1700" b="0">
                <a:solidFill>
                  <a:srgbClr val="1D1D1F"/>
                </a:solidFill>
                <a:latin typeface="Arial"/>
              </a:rPr>
              <a:t>Pick Sam Martinez; show progress and requirement rings</a:t>
            </a:r>
          </a:p>
          <a:p>
            <a:pPr algn="l">
              <a:lnSpc>
                <a:spcPct val="120000"/>
              </a:lnSpc>
              <a:spcAft>
                <a:spcPts val="816"/>
              </a:spcAft>
            </a:pPr>
            <a:r>
              <a:rPr sz="1700" b="1">
                <a:solidFill>
                  <a:srgbClr val="1D1D1F"/>
                </a:solidFill>
                <a:latin typeface="Arial"/>
              </a:rPr>
              <a:t>2  </a:t>
            </a:r>
            <a:r>
              <a:rPr sz="1700" b="0">
                <a:solidFill>
                  <a:srgbClr val="1D1D1F"/>
                </a:solidFill>
                <a:latin typeface="Arial"/>
              </a:rPr>
              <a:t>Plan → Build plan; open Add a course to show the checks</a:t>
            </a:r>
          </a:p>
          <a:p>
            <a:pPr algn="l">
              <a:lnSpc>
                <a:spcPct val="120000"/>
              </a:lnSpc>
              <a:spcAft>
                <a:spcPts val="816"/>
              </a:spcAft>
            </a:pPr>
            <a:r>
              <a:rPr sz="1700" b="1">
                <a:solidFill>
                  <a:srgbClr val="1D1D1F"/>
                </a:solidFill>
                <a:latin typeface="Arial"/>
              </a:rPr>
              <a:t>3  </a:t>
            </a:r>
            <a:r>
              <a:rPr sz="1700" b="0">
                <a:solidFill>
                  <a:srgbClr val="1D1D1F"/>
                </a:solidFill>
                <a:latin typeface="Arial"/>
              </a:rPr>
              <a:t>Check a course: CSE 4344, Spring 2027</a:t>
            </a:r>
          </a:p>
          <a:p>
            <a:pPr algn="l">
              <a:lnSpc>
                <a:spcPct val="120000"/>
              </a:lnSpc>
              <a:spcAft>
                <a:spcPts val="816"/>
              </a:spcAft>
            </a:pPr>
            <a:r>
              <a:rPr sz="1700" b="1">
                <a:solidFill>
                  <a:srgbClr val="1D1D1F"/>
                </a:solidFill>
                <a:latin typeface="Arial"/>
              </a:rPr>
              <a:t>4  </a:t>
            </a:r>
            <a:r>
              <a:rPr sz="1700" b="0">
                <a:solidFill>
                  <a:srgbClr val="1D1D1F"/>
                </a:solidFill>
                <a:latin typeface="Arial"/>
              </a:rPr>
              <a:t>Ask: prerequisites for CSE 3310, then machine learning courses</a:t>
            </a:r>
          </a:p>
          <a:p>
            <a:pPr algn="l">
              <a:lnSpc>
                <a:spcPct val="120000"/>
              </a:lnSpc>
              <a:spcAft>
                <a:spcPts val="816"/>
              </a:spcAft>
            </a:pPr>
            <a:r>
              <a:rPr sz="1700" b="1">
                <a:solidFill>
                  <a:srgbClr val="1D1D1F"/>
                </a:solidFill>
                <a:latin typeface="Arial"/>
              </a:rPr>
              <a:t>5  </a:t>
            </a:r>
            <a:r>
              <a:rPr sz="1700" b="0">
                <a:solidFill>
                  <a:srgbClr val="1D1D1F"/>
                </a:solidFill>
                <a:latin typeface="Arial"/>
              </a:rPr>
              <a:t>Switch major → Compare plans</a:t>
            </a:r>
          </a:p>
          <a:p>
            <a:pPr algn="l">
              <a:lnSpc>
                <a:spcPct val="120000"/>
              </a:lnSpc>
              <a:spcAft>
                <a:spcPts val="816"/>
              </a:spcAft>
            </a:pPr>
            <a:r>
              <a:rPr sz="1700" b="1">
                <a:solidFill>
                  <a:srgbClr val="1D1D1F"/>
                </a:solidFill>
                <a:latin typeface="Arial"/>
              </a:rPr>
              <a:t>6  </a:t>
            </a:r>
            <a:r>
              <a:rPr sz="1700" b="0">
                <a:solidFill>
                  <a:srgbClr val="1D1D1F"/>
                </a:solidFill>
                <a:latin typeface="Arial"/>
              </a:rPr>
              <a:t>Traces: the turns just asked, step by step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766560" y="1737360"/>
            <a:ext cx="4754880" cy="2926080"/>
          </a:xfrm>
          <a:prstGeom prst="roundRect">
            <a:avLst>
              <a:gd name="adj" fmla="val 5000"/>
            </a:avLst>
          </a:prstGeom>
          <a:solidFill>
            <a:srgbClr val="FDF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040880" y="192024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B25000"/>
                </a:solidFill>
                <a:latin typeface="Arial"/>
              </a:rPr>
              <a:t>Good to know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0" y="2377440"/>
            <a:ext cx="42062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72"/>
              </a:spcAft>
            </a:pPr>
            <a:r>
              <a:rPr sz="1400" b="0">
                <a:solidFill>
                  <a:srgbClr val="1D1D1F"/>
                </a:solidFill>
                <a:latin typeface="Arial"/>
              </a:rPr>
              <a:t>The local model answers open questions in 20–70 s; exact questions and plans are instant</a:t>
            </a:r>
          </a:p>
          <a:p>
            <a:pPr algn="l">
              <a:lnSpc>
                <a:spcPct val="120000"/>
              </a:lnSpc>
              <a:spcAft>
                <a:spcPts val="672"/>
              </a:spcAft>
            </a:pPr>
            <a:r>
              <a:rPr sz="1400" b="0">
                <a:solidFill>
                  <a:srgbClr val="1D1D1F"/>
                </a:solidFill>
                <a:latin typeface="Arial"/>
              </a:rPr>
              <a:t>If time is short, the screenshots on the previous slides cover every step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79615" y="644652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6E73"/>
                </a:solidFill>
                <a:latin typeface="Arial"/>
              </a:rPr>
              <a:t>Academic AI Advisor  ·  Lessons learned  ·  27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1D1D1F"/>
                </a:solidFill>
                <a:latin typeface="Arial"/>
              </a:rPr>
              <a:t>Lessons Learned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6E6E73"/>
                </a:solidFill>
                <a:latin typeface="Arial"/>
              </a:rPr>
              <a:t>Working with LangChain, a local LLM, and two databases.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83080"/>
            <a:ext cx="5227167" cy="4434840"/>
          </a:xfrm>
          <a:prstGeom prst="roundRect">
            <a:avLst>
              <a:gd name="adj" fmla="val 5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458708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E7B34"/>
                </a:solidFill>
                <a:latin typeface="Arial"/>
              </a:rPr>
              <a:t>What worked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560320"/>
            <a:ext cx="4587087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48"/>
              </a:spcAft>
            </a:pPr>
            <a:r>
              <a:rPr sz="1400" b="1">
                <a:solidFill>
                  <a:srgbClr val="1D1D1F"/>
                </a:solidFill>
                <a:latin typeface="Arial"/>
              </a:rPr>
              <a:t>Freeze interfaces first:</a:t>
            </a:r>
            <a:r>
              <a:rPr sz="1400" b="0">
                <a:solidFill>
                  <a:srgbClr val="1D1D1F"/>
                </a:solidFill>
                <a:latin typeface="Arial"/>
              </a:rPr>
              <a:t> schema, plan JSON, handle_message and the trace format let five people build in parallel</a:t>
            </a:r>
          </a:p>
          <a:p>
            <a:pPr algn="l">
              <a:lnSpc>
                <a:spcPct val="120000"/>
              </a:lnSpc>
              <a:spcAft>
                <a:spcPts val="448"/>
              </a:spcAft>
            </a:pPr>
            <a:r>
              <a:rPr sz="1400" b="1">
                <a:solidFill>
                  <a:srgbClr val="1D1D1F"/>
                </a:solidFill>
                <a:latin typeface="Arial"/>
              </a:rPr>
              <a:t>LLM only where it helps:</a:t>
            </a:r>
            <a:r>
              <a:rPr sz="1400" b="0">
                <a:solidFill>
                  <a:srgbClr val="1D1D1F"/>
                </a:solidFill>
                <a:latin typeface="Arial"/>
              </a:rPr>
              <a:t> keyword routing and a deterministic planner are instant and always correct</a:t>
            </a:r>
          </a:p>
          <a:p>
            <a:pPr algn="l">
              <a:lnSpc>
                <a:spcPct val="120000"/>
              </a:lnSpc>
              <a:spcAft>
                <a:spcPts val="448"/>
              </a:spcAft>
            </a:pPr>
            <a:r>
              <a:rPr sz="1400" b="1">
                <a:solidFill>
                  <a:srgbClr val="1D1D1F"/>
                </a:solidFill>
                <a:latin typeface="Arial"/>
              </a:rPr>
              <a:t>Local stack:</a:t>
            </a:r>
            <a:r>
              <a:rPr sz="1400" b="0">
                <a:solidFill>
                  <a:srgbClr val="1D1D1F"/>
                </a:solidFill>
                <a:latin typeface="Arial"/>
              </a:rPr>
              <a:t> Ollama + Chroma + SQLite meant no accounts, no cost, and an offline demo</a:t>
            </a:r>
          </a:p>
          <a:p>
            <a:pPr algn="l">
              <a:lnSpc>
                <a:spcPct val="120000"/>
              </a:lnSpc>
              <a:spcAft>
                <a:spcPts val="448"/>
              </a:spcAft>
            </a:pPr>
            <a:r>
              <a:rPr sz="1400" b="1">
                <a:solidFill>
                  <a:srgbClr val="1D1D1F"/>
                </a:solidFill>
                <a:latin typeface="Arial"/>
              </a:rPr>
              <a:t>Trace from day one:</a:t>
            </a:r>
            <a:r>
              <a:rPr sz="1400" b="0">
                <a:solidFill>
                  <a:srgbClr val="1D1D1F"/>
                </a:solidFill>
                <a:latin typeface="Arial"/>
              </a:rPr>
              <a:t> the log made debugging fast and is itself a deliverable</a:t>
            </a:r>
          </a:p>
          <a:p>
            <a:pPr algn="l">
              <a:lnSpc>
                <a:spcPct val="120000"/>
              </a:lnSpc>
              <a:spcAft>
                <a:spcPts val="448"/>
              </a:spcAft>
            </a:pPr>
            <a:r>
              <a:rPr sz="1400" b="1">
                <a:solidFill>
                  <a:srgbClr val="1D1D1F"/>
                </a:solidFill>
                <a:latin typeface="Arial"/>
              </a:rPr>
              <a:t>LangChain tools:</a:t>
            </a:r>
            <a:r>
              <a:rPr sz="1400" b="0">
                <a:solidFill>
                  <a:srgbClr val="1D1D1F"/>
                </a:solidFill>
                <a:latin typeface="Arial"/>
              </a:rPr>
              <a:t> wrapping planner functions as tools keeps them ready for an agent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24447" y="1783080"/>
            <a:ext cx="5227167" cy="4434840"/>
          </a:xfrm>
          <a:prstGeom prst="roundRect">
            <a:avLst>
              <a:gd name="adj" fmla="val 5000"/>
            </a:avLst>
          </a:prstGeom>
          <a:solidFill>
            <a:srgbClr val="FDF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644487" y="1965960"/>
            <a:ext cx="458708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B25000"/>
                </a:solidFill>
                <a:latin typeface="Arial"/>
              </a:rPr>
              <a:t>What to avoid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44487" y="2560320"/>
            <a:ext cx="4587087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48"/>
              </a:spcAft>
            </a:pPr>
            <a:r>
              <a:rPr sz="1400" b="1">
                <a:solidFill>
                  <a:srgbClr val="1D1D1F"/>
                </a:solidFill>
                <a:latin typeface="Arial"/>
              </a:rPr>
              <a:t>Changing shared contracts late:</a:t>
            </a:r>
            <a:r>
              <a:rPr sz="1400" b="0">
                <a:solidFill>
                  <a:srgbClr val="1D1D1F"/>
                </a:solidFill>
                <a:latin typeface="Arial"/>
              </a:rPr>
              <a:t> a mid-project schema rewrite had to be reverted</a:t>
            </a:r>
          </a:p>
          <a:p>
            <a:pPr algn="l">
              <a:lnSpc>
                <a:spcPct val="120000"/>
              </a:lnSpc>
              <a:spcAft>
                <a:spcPts val="448"/>
              </a:spcAft>
            </a:pPr>
            <a:r>
              <a:rPr sz="1400" b="1">
                <a:solidFill>
                  <a:srgbClr val="1D1D1F"/>
                </a:solidFill>
                <a:latin typeface="Arial"/>
              </a:rPr>
              <a:t>Trusting “no reasoning” flags:</a:t>
            </a:r>
            <a:r>
              <a:rPr sz="1400" b="0">
                <a:solidFill>
                  <a:srgbClr val="1D1D1F"/>
                </a:solidFill>
                <a:latin typeface="Arial"/>
              </a:rPr>
              <a:t> qwen3 still emitted its reasoning; strip it at the boundary</a:t>
            </a:r>
          </a:p>
          <a:p>
            <a:pPr algn="l">
              <a:lnSpc>
                <a:spcPct val="120000"/>
              </a:lnSpc>
              <a:spcAft>
                <a:spcPts val="448"/>
              </a:spcAft>
            </a:pPr>
            <a:r>
              <a:rPr sz="1400" b="1">
                <a:solidFill>
                  <a:srgbClr val="1D1D1F"/>
                </a:solidFill>
                <a:latin typeface="Arial"/>
              </a:rPr>
              <a:t>Side effects in exploratory tools:</a:t>
            </a:r>
            <a:r>
              <a:rPr sz="1400" b="0">
                <a:solidFill>
                  <a:srgbClr val="1D1D1F"/>
                </a:solidFill>
                <a:latin typeface="Arial"/>
              </a:rPr>
              <a:t> “thinking about switching” must not change the record</a:t>
            </a:r>
          </a:p>
          <a:p>
            <a:pPr algn="l">
              <a:lnSpc>
                <a:spcPct val="120000"/>
              </a:lnSpc>
              <a:spcAft>
                <a:spcPts val="448"/>
              </a:spcAft>
            </a:pPr>
            <a:r>
              <a:rPr sz="1400" b="1">
                <a:solidFill>
                  <a:srgbClr val="1D1D1F"/>
                </a:solidFill>
                <a:latin typeface="Arial"/>
              </a:rPr>
              <a:t>Reformatting shared files:</a:t>
            </a:r>
            <a:r>
              <a:rPr sz="1400" b="0">
                <a:solidFill>
                  <a:srgbClr val="1D1D1F"/>
                </a:solidFill>
                <a:latin typeface="Arial"/>
              </a:rPr>
              <a:t> line-ending changes caused merge conflicts</a:t>
            </a:r>
          </a:p>
          <a:p>
            <a:pPr algn="l">
              <a:lnSpc>
                <a:spcPct val="120000"/>
              </a:lnSpc>
              <a:spcAft>
                <a:spcPts val="448"/>
              </a:spcAft>
            </a:pPr>
            <a:r>
              <a:rPr sz="1400" b="1">
                <a:solidFill>
                  <a:srgbClr val="1D1D1F"/>
                </a:solidFill>
                <a:latin typeface="Arial"/>
              </a:rPr>
              <a:t>Unpinned environments:</a:t>
            </a:r>
            <a:r>
              <a:rPr sz="1400" b="0">
                <a:solidFill>
                  <a:srgbClr val="1D1D1F"/>
                </a:solidFill>
                <a:latin typeface="Arial"/>
              </a:rPr>
              <a:t> a new Python version broke an install; pin it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79615" y="644652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6E73"/>
                </a:solidFill>
                <a:latin typeface="Arial"/>
              </a:rPr>
              <a:t>Academic AI Advisor  ·  Conclusions and future work  ·  28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1D1D1F"/>
                </a:solidFill>
                <a:latin typeface="Arial"/>
              </a:rPr>
              <a:t>How we know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548640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816"/>
              </a:spcAft>
            </a:pPr>
            <a:r>
              <a:rPr sz="1700" b="1">
                <a:solidFill>
                  <a:srgbClr val="1D1D1F"/>
                </a:solidFill>
                <a:latin typeface="Arial"/>
              </a:rPr>
              <a:t>89 automated tests</a:t>
            </a:r>
            <a:r>
              <a:rPr sz="1700" b="0">
                <a:solidFill>
                  <a:srgbClr val="1D1D1F"/>
                </a:solidFill>
                <a:latin typeface="Arial"/>
              </a:rPr>
              <a:t> across planner, router, RAG retrieval, data schema, UI services, and tracing</a:t>
            </a:r>
          </a:p>
          <a:p>
            <a:pPr algn="l">
              <a:lnSpc>
                <a:spcPct val="120000"/>
              </a:lnSpc>
              <a:spcAft>
                <a:spcPts val="816"/>
              </a:spcAft>
            </a:pPr>
            <a:r>
              <a:rPr sz="1700" b="1">
                <a:solidFill>
                  <a:srgbClr val="1D1D1F"/>
                </a:solidFill>
                <a:latin typeface="Arial"/>
              </a:rPr>
              <a:t>Scripted demo</a:t>
            </a:r>
            <a:r>
              <a:rPr sz="1700" b="0">
                <a:solidFill>
                  <a:srgbClr val="1D1D1F"/>
                </a:solidFill>
                <a:latin typeface="Arial"/>
              </a:rPr>
              <a:t> (scripts/run_demo.py) replays the 7 demo questions end to end and renders the trace log</a:t>
            </a:r>
          </a:p>
          <a:p>
            <a:pPr algn="l">
              <a:lnSpc>
                <a:spcPct val="120000"/>
              </a:lnSpc>
              <a:spcAft>
                <a:spcPts val="816"/>
              </a:spcAft>
            </a:pPr>
            <a:r>
              <a:rPr sz="1700" b="1">
                <a:solidFill>
                  <a:srgbClr val="1D1D1F"/>
                </a:solidFill>
                <a:latin typeface="Arial"/>
              </a:rPr>
              <a:t>Scripted screenshots</a:t>
            </a:r>
            <a:r>
              <a:rPr sz="1700" b="0">
                <a:solidFill>
                  <a:srgbClr val="1D1D1F"/>
                </a:solidFill>
                <a:latin typeface="Arial"/>
              </a:rPr>
              <a:t> (scripts/take_screenshots.py) drive the real app in a browser</a:t>
            </a:r>
          </a:p>
          <a:p>
            <a:pPr algn="l">
              <a:lnSpc>
                <a:spcPct val="120000"/>
              </a:lnSpc>
              <a:spcAft>
                <a:spcPts val="816"/>
              </a:spcAft>
            </a:pPr>
            <a:r>
              <a:rPr sz="1700" b="1">
                <a:solidFill>
                  <a:srgbClr val="1D1D1F"/>
                </a:solidFill>
                <a:latin typeface="Arial"/>
              </a:rPr>
              <a:t>All five branches tested together</a:t>
            </a:r>
            <a:r>
              <a:rPr sz="1700" b="0">
                <a:solidFill>
                  <a:srgbClr val="1D1D1F"/>
                </a:solidFill>
                <a:latin typeface="Arial"/>
              </a:rPr>
              <a:t> in one combined copy, plus a fresh-unzip install test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0" y="1645920"/>
            <a:ext cx="4846320" cy="3931920"/>
          </a:xfrm>
          <a:prstGeom prst="roundRect">
            <a:avLst>
              <a:gd name="adj" fmla="val 5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995160" y="1874519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D1D1F"/>
                </a:solidFill>
                <a:latin typeface="Arial"/>
              </a:rPr>
              <a:t>Response time on a laptop (M5, 16 GB)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95160" y="2377440"/>
            <a:ext cx="4206240" cy="5029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04888" y="2377440"/>
            <a:ext cx="26517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6E6E73"/>
                </a:solidFill>
                <a:latin typeface="Arial"/>
              </a:rPr>
              <a:t>Question type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39528" y="2377440"/>
            <a:ext cx="11887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6E6E73"/>
                </a:solidFill>
                <a:latin typeface="Arial"/>
              </a:rPr>
              <a:t>Time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04888" y="2880360"/>
            <a:ext cx="26517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D1D1F"/>
                </a:solidFill>
                <a:latin typeface="Arial"/>
              </a:rPr>
              <a:t>Exact (SQL)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39528" y="2880360"/>
            <a:ext cx="11887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D1D1F"/>
                </a:solidFill>
                <a:latin typeface="Arial"/>
              </a:rPr>
              <a:t>&lt; 0.1 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995160" y="3383280"/>
            <a:ext cx="4206240" cy="0"/>
          </a:xfrm>
          <a:prstGeom prst="line">
            <a:avLst/>
          </a:prstGeom>
          <a:ln w="9525">
            <a:solidFill>
              <a:srgbClr val="D2D2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104888" y="3383280"/>
            <a:ext cx="26517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D1D1F"/>
                </a:solidFill>
                <a:latin typeface="Arial"/>
              </a:rPr>
              <a:t>Plan / checks / modify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39528" y="3383280"/>
            <a:ext cx="11887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D1D1F"/>
                </a:solidFill>
                <a:latin typeface="Arial"/>
              </a:rPr>
              <a:t>&lt; 0.1 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995160" y="3886200"/>
            <a:ext cx="4206240" cy="0"/>
          </a:xfrm>
          <a:prstGeom prst="line">
            <a:avLst/>
          </a:prstGeom>
          <a:ln w="9525">
            <a:solidFill>
              <a:srgbClr val="D2D2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104888" y="3886200"/>
            <a:ext cx="26517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D1D1F"/>
                </a:solidFill>
                <a:latin typeface="Arial"/>
              </a:rPr>
              <a:t>Semantic (RAG + qwen3:4b)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39528" y="3886200"/>
            <a:ext cx="11887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D1D1F"/>
                </a:solidFill>
                <a:latin typeface="Arial"/>
              </a:rPr>
              <a:t>20–70 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995160" y="4389120"/>
            <a:ext cx="4206240" cy="0"/>
          </a:xfrm>
          <a:prstGeom prst="line">
            <a:avLst/>
          </a:prstGeom>
          <a:ln w="9525">
            <a:solidFill>
              <a:srgbClr val="D2D2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104888" y="4389120"/>
            <a:ext cx="26517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D1D1F"/>
                </a:solidFill>
                <a:latin typeface="Arial"/>
              </a:rPr>
              <a:t>General chat (qwen3:4b)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39528" y="4389120"/>
            <a:ext cx="11887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D1D1F"/>
                </a:solidFill>
                <a:latin typeface="Arial"/>
              </a:rPr>
              <a:t>≈ 20 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995160" y="4892040"/>
            <a:ext cx="4206240" cy="0"/>
          </a:xfrm>
          <a:prstGeom prst="line">
            <a:avLst/>
          </a:prstGeom>
          <a:ln w="9525">
            <a:solidFill>
              <a:srgbClr val="D2D2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79615" y="644652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6E73"/>
                </a:solidFill>
                <a:latin typeface="Arial"/>
              </a:rPr>
              <a:t>Academic AI Advisor  ·  Conclusions and future work  ·  29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1D1D1F"/>
                </a:solidFill>
                <a:latin typeface="Arial"/>
              </a:rPr>
              <a:t>Conclusions and Future Work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508760"/>
            <a:ext cx="3454298" cy="4663440"/>
          </a:xfrm>
          <a:prstGeom prst="roundRect">
            <a:avLst>
              <a:gd name="adj" fmla="val 5000"/>
            </a:avLst>
          </a:prstGeom>
          <a:solidFill>
            <a:srgbClr val="E8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14400" y="1691640"/>
            <a:ext cx="29056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71E3"/>
                </a:solidFill>
                <a:latin typeface="Arial"/>
              </a:rPr>
              <a:t>Teamwork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286000"/>
            <a:ext cx="2905658" cy="3749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500" b="0">
                <a:solidFill>
                  <a:srgbClr val="1D1D1F"/>
                </a:solidFill>
                <a:latin typeface="Arial"/>
              </a:rPr>
              <a:t>Five workstreams on five branches, joined through agreed interfaces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500" b="0">
                <a:solidFill>
                  <a:srgbClr val="1D1D1F"/>
                </a:solidFill>
                <a:latin typeface="Arial"/>
              </a:rPr>
              <a:t>Every branch tested together before the final merge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500" b="0">
                <a:solidFill>
                  <a:srgbClr val="1D1D1F"/>
                </a:solidFill>
                <a:latin typeface="Arial"/>
              </a:rPr>
              <a:t>Work merged into main through pull requests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68698" y="1508760"/>
            <a:ext cx="3454298" cy="4663440"/>
          </a:xfrm>
          <a:prstGeom prst="roundRect">
            <a:avLst>
              <a:gd name="adj" fmla="val 5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643018" y="1691640"/>
            <a:ext cx="29056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E7B34"/>
                </a:solidFill>
                <a:latin typeface="Arial"/>
              </a:rPr>
              <a:t>Achievements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43018" y="2286000"/>
            <a:ext cx="2905658" cy="3749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500" b="0">
                <a:solidFill>
                  <a:srgbClr val="1D1D1F"/>
                </a:solidFill>
                <a:latin typeface="Arial"/>
              </a:rPr>
              <a:t>All eight functional requirements implemented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500" b="0">
                <a:solidFill>
                  <a:srgbClr val="1D1D1F"/>
                </a:solidFill>
                <a:latin typeface="Arial"/>
              </a:rPr>
              <a:t>Six checks before any recommendation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500" b="0">
                <a:solidFill>
                  <a:srgbClr val="1D1D1F"/>
                </a:solidFill>
                <a:latin typeface="Arial"/>
              </a:rPr>
              <a:t>Exact and semantic answers over two databases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500" b="0">
                <a:solidFill>
                  <a:srgbClr val="1D1D1F"/>
                </a:solidFill>
                <a:latin typeface="Arial"/>
              </a:rPr>
              <a:t>A full execution trace for every turn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7316" y="1508760"/>
            <a:ext cx="3454298" cy="4663440"/>
          </a:xfrm>
          <a:prstGeom prst="roundRect">
            <a:avLst>
              <a:gd name="adj" fmla="val 5000"/>
            </a:avLst>
          </a:prstGeom>
          <a:solidFill>
            <a:srgbClr val="FDF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371636" y="1691640"/>
            <a:ext cx="29056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B25000"/>
                </a:solidFill>
                <a:latin typeface="Arial"/>
              </a:rPr>
              <a:t>If the project continues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71636" y="2286000"/>
            <a:ext cx="2905658" cy="3749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500" b="0">
                <a:solidFill>
                  <a:srgbClr val="1D1D1F"/>
                </a:solidFill>
                <a:latin typeface="Arial"/>
              </a:rPr>
              <a:t>Plan past the published schedule using each course’s usual terms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500" b="0">
                <a:solidFill>
                  <a:srgbClr val="1D1D1F"/>
                </a:solidFill>
                <a:latin typeface="Arial"/>
              </a:rPr>
              <a:t>Prompts in template files (Jinja); split the code into layer folders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500" b="0">
                <a:solidFill>
                  <a:srgbClr val="1D1D1F"/>
                </a:solidFill>
                <a:latin typeface="Arial"/>
              </a:rPr>
              <a:t>Faster answers: a GPU or the OpenAI switch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500" b="0">
                <a:solidFill>
                  <a:srgbClr val="1D1D1F"/>
                </a:solidFill>
                <a:latin typeface="Arial"/>
              </a:rPr>
              <a:t>Real records from the registrar instead of personas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79615" y="644652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6E73"/>
                </a:solidFill>
                <a:latin typeface="Arial"/>
              </a:rPr>
              <a:t>Academic AI Advisor  ·  30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40080" y="2560320"/>
            <a:ext cx="1091153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1">
                <a:solidFill>
                  <a:srgbClr val="1D1D1F"/>
                </a:solidFill>
                <a:latin typeface="Arial"/>
              </a:rPr>
              <a:t>Questions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6E6E73"/>
                </a:solidFill>
                <a:latin typeface="Arial"/>
              </a:rPr>
              <a:t>github.com/JordanTaylorGit/CSE-4392-AI-Academic-Advisor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