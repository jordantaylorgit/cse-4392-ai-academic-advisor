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30 seconds.</a:t>
            </a:r>
          </a:p>
          <a:p>
            <a:r>
              <a:t>"We built an academic advisor for UTA CSE students. It plans a degree semester by semester,</a:t>
            </a:r>
          </a:p>
          <a:p>
            <a:r>
              <a:t>checks whether a course can be taken, answers questions from the catalog, and keeps a full</a:t>
            </a:r>
          </a:p>
          <a:p>
            <a:r>
              <a:t>trace of how it reached every answer. Each of us owned one layer; we'll walk the architecture,</a:t>
            </a:r>
          </a:p>
          <a:p>
            <a:r>
              <a:t>show the code that matters, then the demo."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1 minute.</a:t>
            </a:r>
          </a:p>
          <a:p>
            <a:r>
              <a:t>Walk the table top to bottom. Point out that every requirement maps to a specific component</a:t>
            </a:r>
          </a:p>
          <a:p>
            <a:r>
              <a:t>and a specific demo moment, so the rest of the talk follows this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 (overview), each owner adds one line about their box.</a:t>
            </a:r>
          </a:p>
          <a:p>
            <a:r>
              <a:t>Flow: the student types or clicks in the UI. The UI only talks to the backend through one file,</a:t>
            </a:r>
          </a:p>
          <a:p>
            <a:r>
              <a:t>ui/services.py. Chat goes to the orchestrator, which routes the message by intent to exactly one</a:t>
            </a:r>
          </a:p>
          <a:p>
            <a:r>
              <a:t>handler. Facts come from SQLite; open-ended questions are answered from Chroma documents by the LLM;</a:t>
            </a:r>
          </a:p>
          <a:p>
            <a:r>
              <a:t>plans and the six checks come from a deterministic planner that never calls an LLM.</a:t>
            </a:r>
          </a:p>
          <a:p>
            <a:r>
              <a:t>Every step writes a trace record, which is how we produce the execution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The spec asks for "functions of each component and input/output" on the slides;</a:t>
            </a:r>
          </a:p>
          <a:p>
            <a:r>
              <a:t>this is that slide. Don't read it; point at two rows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 (router) + Miguel (retrieval).</a:t>
            </a:r>
          </a:p>
          <a:p>
            <a:r>
              <a:t>This is a real turn from our trace log (screenshot later). Emphasise that routing is cheap:</a:t>
            </a:r>
          </a:p>
          <a:p>
            <a:r>
              <a:t>keyword rules catch most phrasing so the LLM is only used where it adds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Jordan.</a:t>
            </a:r>
          </a:p>
          <a:p>
            <a:r>
              <a:t>Data comes from the real UTA 2026-27 catalog (degree plans parsed from it); class sections and</a:t>
            </a:r>
          </a:p>
          <a:p>
            <a:r>
              <a:t>students are fabricated but consistent with the prerequisites. Documents used to build the embeddings</a:t>
            </a:r>
          </a:p>
          <a:p>
            <a:r>
              <a:t>are included in the zip under advisor/seed/.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Talha, with Kyle for routing and Loc for the planner.</a:t>
            </a:r>
          </a:p>
          <a:p>
            <a:r>
              <a:t>The assignment asks for the design decisions considered and why we chose ours; this is that slide.</a:t>
            </a:r>
          </a:p>
          <a:p>
            <a:r>
              <a:t>Strongest point: plans and the six checks are deterministic code, so the LLM can't invent a</a:t>
            </a:r>
          </a:p>
          <a:p>
            <a:r>
              <a:t>prerequisite or a section that doesn't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Jordan. Why it's needed: without structured requirement slots, nothing can</a:t>
            </a:r>
          </a:p>
          <a:p>
            <a:r>
              <a:t>decide whether a course “counts” (check c) or what's left to graduate.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Miguel.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Loc.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Pick a student</a:t>
            </a:r>
          </a:p>
          <a:p>
            <a:r>
              <a:t>Output: Credits done, in progress, and per-area requirement rings from SQLite</a:t>
            </a:r>
          </a:p>
          <a:p>
            <a:r>
              <a:t>What it means: Sam has 32 of 123 credits; blue is this fall’s 4 classes. The certificate ring is empty: still to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Plan → Build plan (auto load, no summer) → Years</a:t>
            </a:r>
          </a:p>
          <a:p>
            <a:r>
              <a:t>Output: Completed terms (green), then planned semesters (blue), year by year</a:t>
            </a:r>
          </a:p>
          <a:p>
            <a:r>
              <a:t>What it means: The planner fills semesters in prerequisite order within the 15-credit cap; the rings show what each area still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Check a course: CSE 4344, Spring 2027</a:t>
            </a:r>
          </a:p>
          <a:p>
            <a:r>
              <a:t>Output: Checks (a)–(f), each with pass/fail and the reason</a:t>
            </a:r>
          </a:p>
          <a:p>
            <a:r>
              <a:t>What it means: A course is only recommended if all six pass; the reasons tell the student exactly what to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“Prerequisites for CSE 3310?” then “Which courses cover machine learning?”</a:t>
            </a:r>
          </a:p>
          <a:p>
            <a:r>
              <a:t>Output: SQL answer in milliseconds; RAG answer grounded in the catalog</a:t>
            </a:r>
          </a:p>
          <a:p>
            <a:r>
              <a:t>What it means: Same chat, two paths: the router sent the first to SQL and the second to Chroma +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“Generate my degree plan”, then “What about only 3 classes next semester?”</a:t>
            </a:r>
          </a:p>
          <a:p>
            <a:r>
              <a:t>Output: A new plan with 3 classes in Spring 2027</a:t>
            </a:r>
          </a:p>
          <a:p>
            <a:r>
              <a:t>What it means: The follow-up has no subject of its own; the history passed into the turn makes it resolvable.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Switch major → Software Engineering + AI → Compare plans</a:t>
            </a:r>
          </a:p>
          <a:p>
            <a:r>
              <a:t>Output: Current plan and the new one side by side, plus what changes</a:t>
            </a:r>
          </a:p>
          <a:p>
            <a:r>
              <a:t>What it means: Lets a student see the cost of switching before committing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More → Show execution traces → Traces</a:t>
            </a:r>
          </a:p>
          <a:p>
            <a:r>
              <a:t>Output: Every turn and action, step by step, with timings</a:t>
            </a:r>
          </a:p>
          <a:p>
            <a:r>
              <a:t>What it means: This is the required log of execution traces; the zip has the same data as JSONL and as a readable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Mention that slow answers are local-model speed; OpenAI is a one-line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Update this slide after the final run: drop anything the team fixed before the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app open on the Traces screen for questions about how an answer was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40080" y="2148840"/>
            <a:ext cx="256032" cy="256032"/>
          </a:xfrm>
          <a:prstGeom prst="ellipse">
            <a:avLst/>
          </a:prstGeom>
          <a:solidFill>
            <a:srgbClr val="1E7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640080" y="2496312"/>
            <a:ext cx="256032" cy="256032"/>
          </a:xfrm>
          <a:prstGeom prst="ellipse">
            <a:avLst/>
          </a:prstGeom>
          <a:solidFill>
            <a:srgbClr val="F5F5F7"/>
          </a:solidFill>
          <a:ln w="4445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1D1D1F"/>
                </a:solidFill>
                <a:latin typeface="Arial"/>
              </a:rPr>
              <a:t>Academic AI Advisor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6E6E73"/>
                </a:solidFill>
                <a:latin typeface="Arial"/>
              </a:rPr>
              <a:t>Degree plans, course checks, and answers about UTA CSE, built on LangChain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2062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CSE 4392  ·  Team Assignment 2  ·  October 2026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Jordan (data)  ·  Loc (planner)  ·  Miguel (RAG)  ·  Kyle (agent)  ·  Talha (UI, logging, demo)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What the advisor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Every requirement in the assignment, and where it lives in the 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0911535" cy="512064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1828800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How we meet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0928" y="1828800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Shown in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40864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1  User interface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2340864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Streamlit web app: chat, plan timeline, dialogs for add / drop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0928" y="2340864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Every screen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85292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2852928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2  Multi-year degree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852928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Deterministic planner orders the prerequisite graph into semesters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0928" y="2852928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 → Build 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336499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9808" y="3364992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3  Exact and semantic queries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3364992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Intent router sends facts to SQL, open questions to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3364992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Ask: prereqs, ML courses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9808" y="3877056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4  Six checks before recommending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768" y="3877056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Verification engine returns checks (a)–(f) with reasons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0928" y="3877056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Check a course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438912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4389120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5  Change plan, switch major,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389120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Add / drop with undo; new plan side by side with a diff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4389120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Plan, Switch major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90118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9808" y="4901184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6  Conversation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4901184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Session history passed into every turn; chat history in SQLite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4901184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Follow-up question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541324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9808" y="5413248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7–8  Structural + unstructured data, two DBMSs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58768" y="5413248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SQLite for records, Chroma for catalog text and degree 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5413248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Architecture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592531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One entry point, one router, specialised handlers, two databases, and a trace of every step.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179222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Student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signed in (given)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2880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E8F1FC"/>
          </a:solidFill>
          <a:ln w="1270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93008" y="1828800"/>
            <a:ext cx="270662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Streamlit UI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app.py, ui/  ·  Talha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1828800"/>
            <a:ext cx="4480560" cy="731520"/>
          </a:xfrm>
          <a:prstGeom prst="roundRect">
            <a:avLst>
              <a:gd name="adj" fmla="val 12000"/>
            </a:avLst>
          </a:prstGeom>
          <a:solidFill>
            <a:srgbClr val="E8F1FC"/>
          </a:solidFill>
          <a:ln w="1270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50608" y="1828800"/>
            <a:ext cx="426110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Orchestrator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memory + intent router (keywords → small LLM)  ·  Kyle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51760" y="2194560"/>
            <a:ext cx="731520" cy="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309360" y="2194560"/>
            <a:ext cx="731520" cy="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281160" y="2560320"/>
            <a:ext cx="0" cy="365760"/>
          </a:xfrm>
          <a:prstGeom prst="line">
            <a:avLst/>
          </a:prstGeom>
          <a:ln w="19050">
            <a:solidFill>
              <a:srgbClr val="6E6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2926080"/>
            <a:ext cx="8851392" cy="0"/>
          </a:xfrm>
          <a:prstGeom prst="line">
            <a:avLst/>
          </a:prstGeom>
          <a:ln w="19050">
            <a:solidFill>
              <a:srgbClr val="6E6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Exact query chain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SQL lookups  ·  Kyle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55064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655064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52928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962656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Degree planner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plan + six checks  ·  Loc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67912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67912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65776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75504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Plan compare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diff of two plans  ·  Loc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78624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388352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RAG chain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Chroma + LLM  ·  Miguel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93608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93608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91472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01200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General chat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LLM fallback  ·  Kyle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506456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506456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4709160"/>
            <a:ext cx="6455664" cy="91440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49808" y="4709160"/>
            <a:ext cx="62362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SQLite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courses, prerequisites, sections, students, records, requirement slots, plans, chat history  ·  Jordan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78624" y="4709160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88352" y="4709160"/>
            <a:ext cx="18105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Chroma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155 docs: catalog, descriptions, degree reqs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91472" y="4709160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DF0E4"/>
          </a:solidFill>
          <a:ln w="12700">
            <a:solidFill>
              <a:srgbClr val="B25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709160"/>
            <a:ext cx="18105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Ollama (local)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qwen3:4b · qwen3:0.6b · nomic-embed-text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Arial"/>
              </a:rPr>
              <a:t>Every step </a:t>
            </a:r>
            <a:r>
              <a:rPr sz="1300" b="1">
                <a:solidFill>
                  <a:srgbClr val="6E6E73"/>
                </a:solidFill>
                <a:latin typeface="Arial"/>
              </a:rPr>
              <a:t>→ logs/traces.jsonl</a:t>
            </a:r>
            <a:r>
              <a:rPr sz="1300" b="0">
                <a:solidFill>
                  <a:srgbClr val="6E6E73"/>
                </a:solidFill>
                <a:latin typeface="Arial"/>
              </a:rPr>
              <a:t> → Traces screen in the app and the rendered execution log in the zip.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Components: what each one does, its input and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10911535" cy="4572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4368" y="15087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59168" y="15087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36608" y="15087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(Streamlit)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19659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Screens, dialogs, chat; calls the backend via ui/services.py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9168" y="19659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Clicks, typed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36608" y="19659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Rendered answers, plans, checks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24231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9808" y="24231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Orchestrator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44368" y="24231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Keeps the conversation, routes each 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24231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student_id, message, 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6608" y="24231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Reply 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28803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28803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Intent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28803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Keyword rules first, small LLM for the 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28803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Message + last turns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36608" y="28803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One of 8 intents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33375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9808" y="33375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Exact query chain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4368" y="33375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Answers facts with 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33375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Course id / student 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33375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Prereqs, schedule, record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37947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9808" y="3794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RAG chain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37947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Retrieves catalog passages, grounded LLM answer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37947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36608" y="37947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Answer from the documents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" y="42519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49808" y="42519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 planner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44368" y="42519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Orders the prerequisite graph into terms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9168" y="42519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Student, program, load, summer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36608" y="42519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DegreePlan JSON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40080" y="47091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49808" y="47091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Verification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44368" y="47091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Six checks (a)–(f) before recommending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47091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Course, term, plan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36608" y="47091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Pass / fail + reason ×6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" y="51663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49808" y="51663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 compare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51663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Diffs two plans after a change or switch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9168" y="51663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Old plan, new plan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36608" y="51663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Added, removed, moved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0080" y="56235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49808" y="56235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Trace logger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44368" y="5623560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Appends one JSON line per 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59168" y="56235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Event + fields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36608" y="5623560"/>
            <a:ext cx="20391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logs/traces.jsonl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40080" y="60807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One question,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“Which courses cover machine learning or AI topics?”, as recorded in the trace log.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024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user_msg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20240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The question arrives with the student id and session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633472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26334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633472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router_keyword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33472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A keyword rule matches “courses … cover” → semantic_query (no LLM call)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46704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34670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346704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346704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Chroma returns the 5 closest passages: CSE 4309, CSE 4308, CSE 4311 …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059936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405993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9936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llm_response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59936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qwen3:4b answers using only those passages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773168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4773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773168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assistant_msg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73168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Reply shown in the chat and stored in history for follow-ups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6235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E73"/>
                </a:solidFill>
                <a:latin typeface="Arial"/>
              </a:rPr>
              <a:t>Exact questions take the same path but step 3 is a SQL query and there is no LLM call: they answer in milliseconds.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Two databases, two kinds of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Structured records go to SQL; text the LLM must read goes to a vector store.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27167" cy="411480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SQLite: structural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458708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106 courses</a:t>
            </a:r>
            <a:r>
              <a:rPr sz="1500" b="0">
                <a:solidFill>
                  <a:srgbClr val="1D1D1F"/>
                </a:solidFill>
                <a:latin typeface="Arial"/>
              </a:rPr>
              <a:t> with real catalog credit hours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132 prerequisite rules</a:t>
            </a:r>
            <a:r>
              <a:rPr sz="1500" b="0">
                <a:solidFill>
                  <a:srgbClr val="1D1D1F"/>
                </a:solidFill>
                <a:latin typeface="Arial"/>
              </a:rPr>
              <a:t> (OR groups, minimum grades, same-term allowed)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165 class sections</a:t>
            </a:r>
            <a:r>
              <a:rPr sz="1500" b="0">
                <a:solidFill>
                  <a:srgbClr val="1D1D1F"/>
                </a:solidFill>
                <a:latin typeface="Arial"/>
              </a:rPr>
              <a:t> for Fall 2026, Spring 2027, Summer 2027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4 student personas</a:t>
            </a:r>
            <a:r>
              <a:rPr sz="1500" b="0">
                <a:solidFill>
                  <a:srgbClr val="1D1D1F"/>
                </a:solidFill>
                <a:latin typeface="Arial"/>
              </a:rPr>
              <a:t> with transcripts and current enrollment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83 requirement slots</a:t>
            </a:r>
            <a:r>
              <a:rPr sz="1500" b="0">
                <a:solidFill>
                  <a:srgbClr val="1D1D1F"/>
                </a:solidFill>
                <a:latin typeface="Arial"/>
              </a:rPr>
              <a:t> for 2 programs (123 and 127 credits)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Plans and chat history</a:t>
            </a:r>
            <a:r>
              <a:rPr sz="1500" b="0">
                <a:solidFill>
                  <a:srgbClr val="1D1D1F"/>
                </a:solidFill>
                <a:latin typeface="Arial"/>
              </a:rPr>
              <a:t> saved per student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114800"/>
          </a:xfrm>
          <a:prstGeom prst="roundRect">
            <a:avLst>
              <a:gd name="adj" fmla="val 50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44487" y="205740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1E3"/>
                </a:solidFill>
                <a:latin typeface="Arial"/>
              </a:rPr>
              <a:t>Chroma: unstructured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2697480"/>
            <a:ext cx="458708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77 catalog entries</a:t>
            </a:r>
            <a:r>
              <a:rPr sz="1500" b="0">
                <a:solidFill>
                  <a:srgbClr val="1D1D1F"/>
                </a:solidFill>
                <a:latin typeface="Arial"/>
              </a:rPr>
              <a:t> parsed from the UTA CSE course PDF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75 course descriptions</a:t>
            </a:r>
            <a:r>
              <a:rPr sz="1500" b="0">
                <a:solidFill>
                  <a:srgbClr val="1D1D1F"/>
                </a:solidFill>
                <a:latin typeface="Arial"/>
              </a:rPr>
              <a:t> (course-desc.jsonl)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3 degree documents</a:t>
            </a:r>
            <a:r>
              <a:rPr sz="1500" b="0">
                <a:solidFill>
                  <a:srgbClr val="1D1D1F"/>
                </a:solidFill>
                <a:latin typeface="Arial"/>
              </a:rPr>
              <a:t>: BS CS + Cybersecurity, BS SE + AI, major switch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Embedded with</a:t>
            </a:r>
            <a:r>
              <a:rPr sz="1500" b="0">
                <a:solidFill>
                  <a:srgbClr val="1D1D1F"/>
                </a:solidFill>
                <a:latin typeface="Arial"/>
              </a:rPr>
              <a:t> nomic-embed-text via Ollama, stored locally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Used by</a:t>
            </a:r>
            <a:r>
              <a:rPr sz="1500" b="0">
                <a:solidFill>
                  <a:srgbClr val="1D1D1F"/>
                </a:solidFill>
                <a:latin typeface="Arial"/>
              </a:rPr>
              <a:t> the RAG chain for open-ended questions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Design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What we considered, what we chose, and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11535" cy="512064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73736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1737360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Options considered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4688" y="173736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Chosen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42048" y="1737360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4942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249424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OpenAI API · local Ollama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224942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Ollama, qwen3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2249424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Free, offline demo, no keys; OpenAI kept as a switch in .env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276148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76148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Vector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2761488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Pinecone · Chroma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276148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Chroma (local)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2761488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No account or cost; LangChain integration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27355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9808" y="327355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Routing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3273552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 only · keywords only · hybrid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327355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2048" y="3273552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Keywords are instant and predictable; LLM only for ambiguous phrasing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378561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378561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 planning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7168" y="3785616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 writes the plan · algorithm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378561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Deterministic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785616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Plans must be correct: an LLM can't be trusted with prerequisites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" y="42976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429768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87168" y="4297680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CLI · desktop · web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04688" y="429768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Streamlit 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4297680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Dialog boxes and prompts in one app, quick to build in Python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480974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9808" y="48097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Layering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87168" y="4809744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calls modules directly · one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04688" y="48097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ui/services.py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4809744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never depends on backend internals; stubs show “not built yet”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532180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49808" y="532180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Prompts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87168" y="5321808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 code · template files (Jinja)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532180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 code (for now)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5321808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Next step: move to template files, per the professor’s tip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0080" y="583387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requirement data (Jordan)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advisor/seed/schema.sql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A program is a set of requirement slots. Fixed slots name one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course; elective slots list allowed courses in `options`.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CREATE TABLE requirement_slots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slot_id    INTEGER PRIMARY KEY AUTOINCREMENT,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program_id TEXT NOT NULL REFERENCES degree_programs(program_id),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category   TEXT NOT NULL,   -- core, math_science, cse_core, ...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course_id  TEXT REFERENCES courses(course_id),  -- NULL = elective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options    TEXT NOT NULL DEFAULT '[]',          -- JSON course ids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credits    INTEGER NOT NULL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);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Prerequisites that may be taken in the same term (co-requisites).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CREATE TABLE prereq_concurrent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course_id TEXT NOT NULL REFERENCES courses(course_id),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prereq_id TEXT NOT NULL REFERENCES courses(course_id),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PRIMARY KEY (course_id, prereq_id)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Turns the catalog’s degree plans into rows the planner can reason over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One table drives the planner, the six checks, and the progress rings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Generated from the real catalog by build_seed_data.py, not typed by hand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intent router (Kyle)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advisor/router.py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route(message, history=None) -&gt; Intent: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1. Deterministic keyword pass: zero latency, predictable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(kw := _keyword_route(message)) is not None: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trace("router_keyword", intent=kw.value)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kw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2. Ambiguous phrasing: ask a small, fast LLM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recent = "\n".join(f"{m['role']}: {m['content'][:200]}"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   for m in (history or [])[-4:])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resp = get_router_model().invoke(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_PROMPT.format(history=recent, message=message))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text = _strip_think(resp.content).lower()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except Exception as e:      # backend down -&gt; safe fallback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trace("router_error", error=str(e))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Intent.OTHER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next((i for i in Intent if i.value in text), Intent.OTHER)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Decides which handler answers each message (spec req 3)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Keywords catch clear phrasing instantly; qwen3:0.6b handles the rest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Recent turns let follow-ups like “what about 3 classes?” resolve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Never crashes a turn: any failure falls back to general chat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orchestrator dispatch (Kyle)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advisor/orchestrator.py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_dispatch(student_id, message, intent, history) -&gt; str: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in (Intent.EXACT_QUERY, Intent.STATUS_QUERY):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chains.answer_exact(message, student_id)      # SQL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Intent.SEMANTIC_QUERY: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chains.answer_semantic(message, student_id)   # RAG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Intent.GENERATE_PLAN: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plan = tools.generate_degree_plan.invoke({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"student_id": student_id,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"include_summer": _wants_summer(message)})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_format_plan(plan)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Intent.MODIFY_PLAN: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plan = tools.modify_plan.invoke({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"student_id": student_id, **_extract_modify_args(message)})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_format_plan(plan)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Intent.SWITCH_MAJOR: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_handle_switch_major(student_id, message)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Intent.CHECK_ELIGIBILITY: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_handle_eligibility(student_id, message)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_general_answer(message, history)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One place maps each intent to exactly one handler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Planner calls go through LangChain tools (tool.invoke), so the same operations are ready for an agent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Conversation history is passed in every turn (spec req 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retrieval and grounded answers (Miguel)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advisor/chains.py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answer_semantic(query, student_id=None, k=5) -&gt; str: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OVERRIDE_REQUEST.search(query):     # prompt-injection guard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"I can help with academic advising questions, ..."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matches = search_documents(query, k=k)  # Chroma + exact course ids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not matches: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"I couldn't find that in the indexed documents."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references = [{"name": _source_name(h), "text": h["text"][:4000]}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for h in matches]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system_message =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"You are an academic course and degree information assistant.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"Use ONLY facts explicitly stated in the supplied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"reference_documents ... If the sources do not answer the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"question, say what cannot be confirmed. ...")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JSON keeps the student's text separate from the documents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payload = json.dumps({"student_question": query,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      "reference_documents": references})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response = get_chat_model(temperature=0).invoke([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("system", system_message), ("human", payload)])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Answers open-ended questions from the catalog and degree documents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Named courses are fetched directly, then semantic matches fill in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model may only use retrieved text, so answers stay factual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Question and documents are treated as untrusted data: injection attempts are refused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the six verification checks (Loc)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advisor/planner.py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_verify(context, cid, term, plan) -&gt; list[CheckResult]: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prereqs = _prerequisite_failures(context, cid, term, 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fulfills = _coverage(context, after) &gt; _coverage(context, before)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schedule_ok = _section_assignment(context, semester_ids, term) is not None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[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CheckResult("prerequisites_met", not prereqs, ...),          # (a)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CheckResult("not_already_passed",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cid not in passed and not scheduled_elsewhere, ...),  # (b)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CheckResult("fulfills_degree_requirement", fulfills, ...),   # (c)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CheckResult("no_schedule_conflict", schedule_ok, ...),       # (d)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CheckResult("within_semester_credit_cap",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semester_credits &lt;= semester_cap, ...),          # (e)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CheckResult("within_degree_credit_cap",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degree_credits &lt;= degree_cap, ...),              # (f)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Runs before any course is recommended or added (spec req 4)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Each check returns pass/fail and a human-readable reason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Schedule check searches for a conflict-free set of real sections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Pure Python over SQLite: no LLM, so results are exact and repeatable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UI boundary and execution traces (Talha)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ui/services.py, advisor/tracing.py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_call(action, student_id, live, fallback, use_preview, **fields):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result, source = live(), "live"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except NotImplementedError as e:      # teammate's module not merged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if not use_preview: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raise NotReady(str(e)) from e  # UI shows "not built yet"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result, source = fallback(), "preview"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tracing.trace("ui_action", student_id=student_id, action=action,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source=source, **fields)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result, source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trace(event: str, **fields) -&gt; None:   # one JSON line per step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record = {"ts": datetime.now(timezone.utc).isoformat(),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"event": event,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**({"session": s} if (s := _session.get()) else {}),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**fields}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with TRACE_LOG.open("a") as f: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f.write(json.dumps(record, default=str) + "\n")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UI touches the backend in one file, so each layer was built in parallel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Every UI action and chat step lands in logs/traces.jsonl, tagged by session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Traces screen and scripts/render_traces.py turn it into the execution log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Demo: Sam’s progress at a glance</a:t>
            </a:r>
          </a:p>
        </p:txBody>
      </p:sp>
      <p:pic>
        <p:nvPicPr>
          <p:cNvPr id="4" name="Picture 3" descr="01_overview_rings.png"/>
          <p:cNvPicPr>
            <a:picLocks noChangeAspect="1"/>
          </p:cNvPicPr>
          <p:nvPr/>
        </p:nvPicPr>
        <p:blipFill>
          <a:blip r:embed="rId2"/>
          <a:srcRect l="13000" r="13000" t="20000" b="3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Pick a student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Credits done, in progress, and per-area requirement rings from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Sam has 32 of 123 credits; blue is this fall’s 4 classes. The certificate ring is empty: still to plan.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Demo: a multi-year degree plan</a:t>
            </a:r>
          </a:p>
        </p:txBody>
      </p:sp>
      <p:pic>
        <p:nvPicPr>
          <p:cNvPr id="4" name="Picture 3" descr="03_plan_years.png"/>
          <p:cNvPicPr>
            <a:picLocks noChangeAspect="1"/>
          </p:cNvPicPr>
          <p:nvPr/>
        </p:nvPicPr>
        <p:blipFill>
          <a:blip r:embed="rId2"/>
          <a:srcRect l="13000" r="13000" t="47000" b="9027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Plan → Build plan (auto load, no summer) →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Completed terms (green), then planned semesters (blue), year by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The planner fills semesters in prerequisite order within the 15-credit cap; the rings show what each area still needs.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Demo: six checks before recommending</a:t>
            </a:r>
          </a:p>
        </p:txBody>
      </p:sp>
      <p:pic>
        <p:nvPicPr>
          <p:cNvPr id="4" name="Picture 3" descr="05_six_checks.png"/>
          <p:cNvPicPr>
            <a:picLocks noChangeAspect="1"/>
          </p:cNvPicPr>
          <p:nvPr/>
        </p:nvPicPr>
        <p:blipFill>
          <a:blip r:embed="rId2"/>
          <a:srcRect l="13000" r="13000" t="12000" b="33916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Check a course: CSE 4344, Spring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Checks (a)–(f), each with pass/fail and the 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A course is only recommended if all six pass; the reasons tell the student exactly what to fix.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Demo: exact vs. semantic questions</a:t>
            </a:r>
          </a:p>
        </p:txBody>
      </p:sp>
      <p:pic>
        <p:nvPicPr>
          <p:cNvPr id="4" name="Picture 3" descr="07_ask_semantic_rag.png"/>
          <p:cNvPicPr>
            <a:picLocks noChangeAspect="1"/>
          </p:cNvPicPr>
          <p:nvPr/>
        </p:nvPicPr>
        <p:blipFill>
          <a:blip r:embed="rId2"/>
          <a:srcRect l="13000" r="13000" t="3000" b="20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“Prerequisites for CSE 3310?” then “Which courses cover machine learning?”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SQL answer in milliseconds; RAG answer grounded in the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Same chat, two paths: the router sent the first to SQL and the second to Chroma + the LLM.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Demo: the conversation remembers</a:t>
            </a:r>
          </a:p>
        </p:txBody>
      </p:sp>
      <p:pic>
        <p:nvPicPr>
          <p:cNvPr id="4" name="Picture 3" descr="08_ask_followup_memory.png"/>
          <p:cNvPicPr>
            <a:picLocks noChangeAspect="1"/>
          </p:cNvPicPr>
          <p:nvPr/>
        </p:nvPicPr>
        <p:blipFill>
          <a:blip r:embed="rId2"/>
          <a:srcRect l="13000" r="13000" b="23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“Generate my degree plan”, then “What about only 3 classes next semester?”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A new plan with 3 classes in Spring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The follow-up has no subject of its own; the history passed into the turn makes it resolvable.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Demo: switching major, compared</a:t>
            </a:r>
          </a:p>
        </p:txBody>
      </p:sp>
      <p:pic>
        <p:nvPicPr>
          <p:cNvPr id="4" name="Picture 3" descr="09_switch_major_compare.png"/>
          <p:cNvPicPr>
            <a:picLocks noChangeAspect="1"/>
          </p:cNvPicPr>
          <p:nvPr/>
        </p:nvPicPr>
        <p:blipFill>
          <a:blip r:embed="rId2"/>
          <a:srcRect l="13000" r="13000" t="17000" b="29464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Switch major → Software Engineering + AI → Compare plans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Current plan and the new one side by side, plus what 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Lets a student see the cost of switching before committing to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Demo: the execution trace</a:t>
            </a:r>
          </a:p>
        </p:txBody>
      </p:sp>
      <p:pic>
        <p:nvPicPr>
          <p:cNvPr id="4" name="Picture 3" descr="10_execution_traces.png"/>
          <p:cNvPicPr>
            <a:picLocks noChangeAspect="1"/>
          </p:cNvPicPr>
          <p:nvPr/>
        </p:nvPicPr>
        <p:blipFill>
          <a:blip r:embed="rId2"/>
          <a:srcRect l="13000" r="13000" t="12000" b="59405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More → Show execution traces → Traces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Every turn and action, step by step, with timings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This is the required log of execution traces; the zip has the same data as JSONL and as a readable report.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How we know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89 automated tests</a:t>
            </a:r>
            <a:r>
              <a:rPr sz="1700" b="0">
                <a:solidFill>
                  <a:srgbClr val="1D1D1F"/>
                </a:solidFill>
                <a:latin typeface="Arial"/>
              </a:rPr>
              <a:t> across planner, router, RAG retrieval, data schema, UI services, and tracing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Scripted demo</a:t>
            </a:r>
            <a:r>
              <a:rPr sz="1700" b="0">
                <a:solidFill>
                  <a:srgbClr val="1D1D1F"/>
                </a:solidFill>
                <a:latin typeface="Arial"/>
              </a:rPr>
              <a:t> (scripts/run_demo.py) replays the 7 demo questions end to end and renders the trace log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Scripted screenshots</a:t>
            </a:r>
            <a:r>
              <a:rPr sz="1700" b="0">
                <a:solidFill>
                  <a:srgbClr val="1D1D1F"/>
                </a:solidFill>
                <a:latin typeface="Arial"/>
              </a:rPr>
              <a:t> (scripts/take_screenshots.py) drive the real app in a browser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Every branch merged and tested together</a:t>
            </a:r>
            <a:r>
              <a:rPr sz="1700" b="0">
                <a:solidFill>
                  <a:srgbClr val="1D1D1F"/>
                </a:solidFill>
                <a:latin typeface="Arial"/>
              </a:rPr>
              <a:t> before merging into main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645920"/>
            <a:ext cx="4846320" cy="393192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95160" y="1874519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Response time on a laptop (M5, 16 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95160" y="2377440"/>
            <a:ext cx="4206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04888" y="23774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Question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528" y="237744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4888" y="288036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Exact (SQL)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528" y="288036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&lt; 0.1 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95160" y="338328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04888" y="338328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 / checks / modify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338328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&lt; 0.1 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95160" y="388620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04888" y="388620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Semantic (RAG + qwen3:4b)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39528" y="388620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20–50 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95160" y="438912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04888" y="43891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General chat (qwen3:4b)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438912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≈ 20 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95160" y="489204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11535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64"/>
              </a:spcAft>
            </a:pPr>
            <a:r>
              <a:rPr sz="1800" b="1">
                <a:solidFill>
                  <a:srgbClr val="1D1D1F"/>
                </a:solidFill>
                <a:latin typeface="Arial"/>
              </a:rPr>
              <a:t>Schedule horizon:</a:t>
            </a:r>
            <a:r>
              <a:rPr sz="1800" b="0">
                <a:solidFill>
                  <a:srgbClr val="1D1D1F"/>
                </a:solidFill>
                <a:latin typeface="Arial"/>
              </a:rPr>
              <a:t> sections exist for three terms only; plans beyond them assume courses repeat</a:t>
            </a:r>
          </a:p>
          <a:p>
            <a:pPr algn="l">
              <a:lnSpc>
                <a:spcPct val="120000"/>
              </a:lnSpc>
              <a:spcAft>
                <a:spcPts val="864"/>
              </a:spcAft>
            </a:pPr>
            <a:r>
              <a:rPr sz="1800" b="1">
                <a:solidFill>
                  <a:srgbClr val="1D1D1F"/>
                </a:solidFill>
                <a:latin typeface="Arial"/>
              </a:rPr>
              <a:t>Local model speed:</a:t>
            </a:r>
            <a:r>
              <a:rPr sz="1800" b="0">
                <a:solidFill>
                  <a:srgbClr val="1D1D1F"/>
                </a:solidFill>
                <a:latin typeface="Arial"/>
              </a:rPr>
              <a:t> 20–50 s per LLM answer on a laptop; a GPU or the OpenAI switch fixes it</a:t>
            </a:r>
          </a:p>
          <a:p>
            <a:pPr algn="l">
              <a:lnSpc>
                <a:spcPct val="120000"/>
              </a:lnSpc>
              <a:spcAft>
                <a:spcPts val="864"/>
              </a:spcAft>
            </a:pPr>
            <a:r>
              <a:rPr sz="1800" b="1">
                <a:solidFill>
                  <a:srgbClr val="1D1D1F"/>
                </a:solidFill>
                <a:latin typeface="Arial"/>
              </a:rPr>
              <a:t>Prompts in code:</a:t>
            </a:r>
            <a:r>
              <a:rPr sz="1800" b="0">
                <a:solidFill>
                  <a:srgbClr val="1D1D1F"/>
                </a:solidFill>
                <a:latin typeface="Arial"/>
              </a:rPr>
              <a:t> move them to template files (Jinja) so they can be tuned without code changes</a:t>
            </a:r>
          </a:p>
          <a:p>
            <a:pPr algn="l">
              <a:lnSpc>
                <a:spcPct val="120000"/>
              </a:lnSpc>
              <a:spcAft>
                <a:spcPts val="864"/>
              </a:spcAft>
            </a:pPr>
            <a:r>
              <a:rPr sz="1800" b="1">
                <a:solidFill>
                  <a:srgbClr val="1D1D1F"/>
                </a:solidFill>
                <a:latin typeface="Arial"/>
              </a:rPr>
              <a:t>Layer folders:</a:t>
            </a:r>
            <a:r>
              <a:rPr sz="1800" b="0">
                <a:solidFill>
                  <a:srgbClr val="1D1D1F"/>
                </a:solidFill>
                <a:latin typeface="Arial"/>
              </a:rPr>
              <a:t> split database, backend, and AI logic into separate packages</a:t>
            </a:r>
          </a:p>
          <a:p>
            <a:pPr algn="l">
              <a:lnSpc>
                <a:spcPct val="120000"/>
              </a:lnSpc>
              <a:spcAft>
                <a:spcPts val="864"/>
              </a:spcAft>
            </a:pPr>
            <a:r>
              <a:rPr sz="1800" b="1">
                <a:solidFill>
                  <a:srgbClr val="1D1D1F"/>
                </a:solidFill>
                <a:latin typeface="Arial"/>
              </a:rPr>
              <a:t>Real data:</a:t>
            </a:r>
            <a:r>
              <a:rPr sz="1800" b="0">
                <a:solidFill>
                  <a:srgbClr val="1D1D1F"/>
                </a:solidFill>
                <a:latin typeface="Arial"/>
              </a:rPr>
              <a:t> student records are fabricated personas; a real deployment would read the registrar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08415" y="64465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23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1D1D1F"/>
                </a:solidFill>
                <a:latin typeface="Arial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E6E73"/>
                </a:solidFill>
                <a:latin typeface="Arial"/>
              </a:rPr>
              <a:t>github.com/JordanTaylorGit/CSE-4392-AI-Academic-Advisor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